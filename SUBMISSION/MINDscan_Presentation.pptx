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7" r:id="rId18"/>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57584"/>
  </p:normalViewPr>
  <p:slideViewPr>
    <p:cSldViewPr snapToGrid="0" snapToObjects="1">
      <p:cViewPr>
        <p:scale>
          <a:sx n="76" d="100"/>
          <a:sy n="76" d="100"/>
        </p:scale>
        <p:origin x="1984" y="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4040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 say this naturally, don't read the slide.</a:t>
            </a:r>
          </a:p>
          <a:p>
            <a:endParaRPr/>
          </a:p>
          <a:p>
            <a:r>
              <a:t>"Good morning/afternoon. I'm Priyanshi Goel, B.Tech final year, DS4270 Major Project. My project is MINDscan — an AI-based mental health screening system for university students."</a:t>
            </a:r>
          </a:p>
          <a:p>
            <a:endParaRPr/>
          </a:p>
          <a:p>
            <a:r>
              <a:t>"The system uses a Logistic Regression model trained on 1,151 real MUJ students, achieving 95.67% test accuracy. The app is live right now — any student can use it anonymously in under 2 minutes."</a:t>
            </a:r>
          </a:p>
          <a:p>
            <a:endParaRPr/>
          </a:p>
          <a:p>
            <a:r>
              <a:t>"Before I begin — important: this is a preliminary screening support tool. It is NOT a clinical diagnostic tool and does not replace professional care."</a:t>
            </a:r>
          </a:p>
          <a:p>
            <a:endParaRPr/>
          </a:p>
          <a:p>
            <a:r>
              <a:t>[Pause — let them read the metrics on the right. Then go to Slide 2.]</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"The core problem is a screening gap. 1 in 4 university students has depression or anxiety. Yet most never seek help."</a:t>
            </a:r>
          </a:p>
          <a:p>
            <a:endParaRPr dirty="0"/>
          </a:p>
          <a:p>
            <a:r>
              <a:rPr dirty="0"/>
              <a:t>"Why? Three main reasons: stigma — they fear judgment. Cost — therapy is expensive. And simply not knowing they have a problem."</a:t>
            </a:r>
          </a:p>
          <a:p>
            <a:endParaRPr dirty="0"/>
          </a:p>
          <a:p>
            <a:r>
              <a:rPr dirty="0"/>
              <a:t>"Existing solutions don't solve this. PHQ-9 and GAD-7 are validated screening tools, but their results need careful interpretation. Generic wellness apps usually do not provide validated depression-risk screening. Also, limited tools combine PHQ-9, lifestyle context, explainability, and deployment for Indian university students."</a:t>
            </a:r>
          </a:p>
          <a:p>
            <a:endParaRPr dirty="0"/>
          </a:p>
          <a:p>
            <a:r>
              <a:rPr dirty="0"/>
              <a:t>"</a:t>
            </a:r>
            <a:r>
              <a:rPr dirty="0" err="1"/>
              <a:t>MINDscan</a:t>
            </a:r>
            <a:r>
              <a:rPr dirty="0"/>
              <a:t> is designed to fill exactly this gap — anonymous, instant, no appointment needed, and it explains its reasoning."</a:t>
            </a:r>
          </a:p>
          <a:p>
            <a:endParaRPr dirty="0"/>
          </a:p>
          <a:p>
            <a:r>
              <a:rPr dirty="0"/>
              <a:t>IF ASKED: "Why can't they just Google the PHQ-9 and score it themselves?"</a:t>
            </a:r>
          </a:p>
          <a:p>
            <a:r>
              <a:rPr dirty="0"/>
              <a:t>→ "They can calculate their PHQ class, but they do not get probability confidence, lifestyle context, SHAP-based explanations, or a deployed screening interface. That is what the model adds."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 this slide is your "impact pitch". Say it with confidence.</a:t>
            </a:r>
          </a:p>
          <a:p>
            <a:endParaRPr/>
          </a:p>
          <a:p>
            <a:r>
              <a:t>"I want to take a moment to explain why this project matters beyond just the technical implementation."</a:t>
            </a:r>
          </a:p>
          <a:p>
            <a:endParaRPr/>
          </a:p>
          <a:p>
            <a:r>
              <a:t>Go through each pillar:</a:t>
            </a:r>
          </a:p>
          <a:p>
            <a:r>
              <a:t>1. "Early screening catches risk before it becomes a crisis — like a smoke detector before the fire."</a:t>
            </a:r>
          </a:p>
          <a:p>
            <a:r>
              <a:t>2. "It's completely anonymous — It requires no login and stores no personal profile, which reduces the stigma barrier."</a:t>
            </a:r>
          </a:p>
          <a:p>
            <a:r>
              <a:t>3. "The AI explains its reasoning using SHAP — it doesn't just say 'you are High Risk', it shows which specific symptoms are driving that risk."</a:t>
            </a:r>
          </a:p>
          <a:p>
            <a:r>
              <a:t>4. "The dataset is from real Indian university students — not a foreign dataset that may not reflect our cultural and academic context."</a:t>
            </a:r>
          </a:p>
          <a:p>
            <a:r>
              <a:t>5. "And most importantly — this is a deployed, working system. Any student in India can use it right now for free."</a:t>
            </a:r>
          </a:p>
          <a:p>
            <a:endParaRPr/>
          </a:p>
          <a:p>
            <a:r>
              <a:t>IMPORTANT: End this slide by saying — "All of this while being very clear: MINDscan is a preliminary screening support tool. It is not a clinical diagnosis."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a:t>
            </a:r>
          </a:p>
          <a:p>
            <a:r>
              <a:t>"We collected our own primary dataset — 1,151 students at MUJ through a Google Forms survey. Not a downloaded dataset."</a:t>
            </a:r>
          </a:p>
          <a:p>
            <a:endParaRPr/>
          </a:p>
          <a:p>
            <a:r>
              <a:t>"Each student answered 22 questions: all 9 PHQ-9 clinical items rated 0 to 3, plus lifestyle data — sleep hours, exercise frequency, screen time, stress levels, and academic overload."</a:t>
            </a:r>
          </a:p>
          <a:p>
            <a:endParaRPr/>
          </a:p>
          <a:p>
            <a:r>
              <a:t>"The target variable — Low, Moderate, or High Risk — was derived from the PHQ-9 total score using the standard clinical thresholds."</a:t>
            </a:r>
          </a:p>
          <a:p>
            <a:endParaRPr/>
          </a:p>
          <a:p>
            <a:r>
              <a:t>"Critical decision: we then DROPPED the PHQ-9 total score before training. If we kept it, the model would just memorise the formula. Dropping it prevents direct leakage from the final PHQ total while retaining individual PHQ symptoms as valid screening inputs."</a:t>
            </a:r>
          </a:p>
          <a:p>
            <a:endParaRPr/>
          </a:p>
          <a:p>
            <a:r>
              <a:t>"The project was built in 8 phases — from literature review to a publicly deployed application."</a:t>
            </a:r>
          </a:p>
          <a:p>
            <a:endParaRPr/>
          </a:p>
          <a:p>
            <a:r>
              <a:t>IF ASKED about class imbalance now: "13% High Risk is a small minority — we addressed this with SMOTE in the model training phase."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a:t>
            </a:r>
          </a:p>
          <a:p>
            <a:r>
              <a:t>"We trained four algorithms and compared them using 5-fold stratified cross-validation."</a:t>
            </a:r>
          </a:p>
          <a:p>
            <a:endParaRPr/>
          </a:p>
          <a:p>
            <a:r>
              <a:t>"Logistic Regression came out clearly on top — 95.67% test accuracy."</a:t>
            </a:r>
          </a:p>
          <a:p>
            <a:endParaRPr/>
          </a:p>
          <a:p>
            <a:r>
              <a:t>"The reason is conceptual: our target labels are based on fixed LINEAR PHQ-9 thresholds. The decision boundary between Low, Moderate, and High Risk is fundamentally linear. Logistic Regression is purpose-built for linear classification — adding complexity with Random Forest or deep learning would only hurt performance on this type of data."</a:t>
            </a:r>
          </a:p>
          <a:p>
            <a:endParaRPr/>
          </a:p>
          <a:p>
            <a:r>
              <a:t>"For the most critical class — High Risk — we achieved 91% F1. This shows a strong balance between precision and recall for identifying at-risk students."</a:t>
            </a:r>
          </a:p>
          <a:p>
            <a:endParaRPr/>
          </a:p>
          <a:p>
            <a:r>
              <a:t>"CV accuracy 95.98% versus test accuracy 95.67% — a gap of only 0.3%. No significant overfitting was observed."</a:t>
            </a:r>
          </a:p>
          <a:p>
            <a:endParaRPr/>
          </a:p>
          <a:p>
            <a:r>
              <a:t>CRITICAL QUESTION YOU WILL BE ASKED:</a:t>
            </a:r>
          </a:p>
          <a:p>
            <a:r>
              <a:t>"Is your model just learning the PHQ-9 thresholds?"</a:t>
            </a:r>
          </a:p>
          <a:p>
            <a:endParaRPr/>
          </a:p>
          <a:p>
            <a:r>
              <a:t>BEST ANSWER:</a:t>
            </a:r>
          </a:p>
          <a:p>
            <a:r>
              <a:t>"Yes — the labels ARE PHQ-derived, so the model is not replacing PHQ-9. Its added value is: probability confidence scores for each class, lifestyle context from 13 additional features, SHAP explanations showing which specific factors drive each prediction, and a deployed screening interface accessible to any student. The formula gives a class label. The model gives a complete decision support system."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 keep it short, the charts speak for themselves.</a:t>
            </a:r>
          </a:p>
          <a:p>
            <a:endParaRPr/>
          </a:p>
          <a:p>
            <a:r>
              <a:t>"SHAP stands for SHapley Additive exPlanations. It comes from game theory. SHAP tells us how each feature contributes to the model's risk prediction behaviour."</a:t>
            </a:r>
          </a:p>
          <a:p>
            <a:endParaRPr/>
          </a:p>
          <a:p>
            <a:r>
              <a:t>"The chart on the left is our actual output. PHQ-3 — the sleep trouble question — is the single most influential feature with a SHAP score of 0.5996."</a:t>
            </a:r>
          </a:p>
          <a:p>
            <a:endParaRPr/>
          </a:p>
          <a:p>
            <a:r>
              <a:t>"The bottom chart breaks this down by risk class — showing which features matter most specifically for predicting High Risk versus Low Risk."</a:t>
            </a:r>
          </a:p>
          <a:p>
            <a:endParaRPr/>
          </a:p>
          <a:p>
            <a:r>
              <a:t>"Why is this important in a mental health context? Because we can't tell a student 'you are High Risk' without explaining why. SHAP provides that explanation. A student who scores High Risk might see that their sleep trouble and exam anxiety are the main drivers — which is immediately actionable."</a:t>
            </a:r>
          </a:p>
          <a:p>
            <a:endParaRPr/>
          </a:p>
          <a:p>
            <a:r>
              <a:t>IMPORTANT SAFETY NOTE TO MENTION:</a:t>
            </a:r>
          </a:p>
          <a:p>
            <a:r>
              <a:t>"We use SHAP's LinearExplainer specifically for Logistic Regression — it gives mathematically exact values, not approximations."</a:t>
            </a:r>
          </a:p>
          <a:p>
            <a:endParaRPr/>
          </a:p>
          <a:p>
            <a:r>
              <a:t>IF ASKED: "What's the difference between SHAP and just looking at feature coefficients?"</a:t>
            </a:r>
          </a:p>
          <a:p>
            <a:r>
              <a:t>→ "Coefficients give global average weights. SHAP gives per-prediction, per-student explanations that account for actual feature values — much more useful for individual interpretation."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HAS TWO TOPICS — address SMOTE first, then GAD-7.</a:t>
            </a:r>
          </a:p>
          <a:p>
            <a:endParaRPr dirty="0"/>
          </a:p>
          <a:p>
            <a:r>
              <a:rPr dirty="0"/>
              <a:t>SMOTE:</a:t>
            </a:r>
          </a:p>
          <a:p>
            <a:r>
              <a:rPr dirty="0"/>
              <a:t>"High Risk students were only 12.8% of our dataset. This is called class imbalance. A naive model could just predict Low Risk for everyone and still get 58% accuracy — while completely missing every genuinely at-risk student."</a:t>
            </a:r>
          </a:p>
          <a:p>
            <a:endParaRPr dirty="0"/>
          </a:p>
          <a:p>
            <a:r>
              <a:rPr dirty="0"/>
              <a:t>"SMOTE addresses this by creating new synthetic High Risk data points — not duplicates — by interpolating between existing High Risk students in the 22-dimensional feature space."</a:t>
            </a:r>
          </a:p>
          <a:p>
            <a:endParaRPr dirty="0"/>
          </a:p>
          <a:p>
            <a:r>
              <a:rPr dirty="0"/>
              <a:t>"Critically: SMOTE was applied ONLY to the training data. The test set was never modified. This preserves real-world class distribution in evaluation."</a:t>
            </a:r>
          </a:p>
          <a:p>
            <a:endParaRPr dirty="0"/>
          </a:p>
          <a:p>
            <a:r>
              <a:rPr dirty="0"/>
              <a:t>"High Risk F1 of 91% shows a strong balance between precision and recall — the model is neither over-flagging nor under-flagging at-risk students."</a:t>
            </a:r>
          </a:p>
          <a:p>
            <a:endParaRPr dirty="0"/>
          </a:p>
          <a:p>
            <a:r>
              <a:rPr dirty="0"/>
              <a:t>GAD-7 — BE VERY CAREFUL HERE:</a:t>
            </a:r>
          </a:p>
          <a:p>
            <a:r>
              <a:rPr dirty="0"/>
              <a:t>"The second enhancement is a GAD-7 INSPIRED anxiety estimate. To be precise: this is NOT a validated clinical GAD-7 score. GAD-7 is a 7-item clinical questionnaire. We approximated it using 3 related survey questions — workload stress, difficulty relaxing, and exam anxiety."</a:t>
            </a:r>
          </a:p>
          <a:p>
            <a:endParaRPr dirty="0"/>
          </a:p>
          <a:p>
            <a:r>
              <a:rPr dirty="0"/>
              <a:t>"The estimate is clearly labelled as such in the application. It gives students a sense of their anxiety level alongside depression risk."</a:t>
            </a:r>
          </a:p>
          <a:p>
            <a:endParaRPr dirty="0"/>
          </a:p>
          <a:p>
            <a:r>
              <a:rPr dirty="0"/>
              <a:t>IF CHALLENGED on GAD-7 validity:</a:t>
            </a:r>
          </a:p>
          <a:p>
            <a:r>
              <a:rPr dirty="0"/>
              <a:t>→ "You're right to flag this. Our system explicitly labels it as a proxy estimate, not a clinical score. This is a documented limitation. Replacing it with the full 7-item GAD-7 is listed as future scope."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 — walk them through the flow left to right.</a:t>
            </a:r>
          </a:p>
          <a:p>
            <a:endParaRPr dirty="0"/>
          </a:p>
          <a:p>
            <a:r>
              <a:rPr dirty="0"/>
              <a:t>"Let me walk you through what happens from the moment a student clicks Submit."</a:t>
            </a:r>
          </a:p>
          <a:p>
            <a:endParaRPr dirty="0"/>
          </a:p>
          <a:p>
            <a:r>
              <a:rPr dirty="0"/>
              <a:t>1. "The student fills 22 input fields in the web form."</a:t>
            </a:r>
          </a:p>
          <a:p>
            <a:r>
              <a:rPr dirty="0"/>
              <a:t>2. "JavaScript sends these as a POST request to our Flask /predict endpoint."</a:t>
            </a:r>
          </a:p>
          <a:p>
            <a:r>
              <a:rPr dirty="0"/>
              <a:t>3. "Flask receives the JSON, maps it to a </a:t>
            </a:r>
            <a:r>
              <a:rPr dirty="0" err="1"/>
              <a:t>DataFrame</a:t>
            </a:r>
            <a:r>
              <a:rPr dirty="0"/>
              <a:t> — in the EXACT column order the model was trained on."</a:t>
            </a:r>
          </a:p>
          <a:p>
            <a:r>
              <a:rPr dirty="0"/>
              <a:t>4. "The same </a:t>
            </a:r>
            <a:r>
              <a:rPr dirty="0" err="1"/>
              <a:t>MinMaxScaler</a:t>
            </a:r>
            <a:r>
              <a:rPr dirty="0"/>
              <a:t> from training </a:t>
            </a:r>
            <a:r>
              <a:rPr dirty="0" err="1"/>
              <a:t>normalises</a:t>
            </a:r>
            <a:r>
              <a:rPr dirty="0"/>
              <a:t> the features to 0–1."</a:t>
            </a:r>
          </a:p>
          <a:p>
            <a:r>
              <a:rPr dirty="0"/>
              <a:t>5. "The Logistic Regression model runs predict() and </a:t>
            </a:r>
            <a:r>
              <a:rPr dirty="0" err="1"/>
              <a:t>predict_proba</a:t>
            </a:r>
            <a:r>
              <a:rPr dirty="0"/>
              <a:t>() — giving us the risk class and confidence percentages."</a:t>
            </a:r>
          </a:p>
          <a:p>
            <a:r>
              <a:rPr dirty="0"/>
              <a:t>6. "SHAP explanations were generated from the trained model to interpret predictions — the charts are pre-computed and served as static images."</a:t>
            </a:r>
          </a:p>
          <a:p>
            <a:r>
              <a:rPr dirty="0"/>
              <a:t>7. "All of this is returned to the frontend — rendered as </a:t>
            </a:r>
            <a:r>
              <a:rPr dirty="0" err="1"/>
              <a:t>colour</a:t>
            </a:r>
            <a:r>
              <a:rPr dirty="0"/>
              <a:t>-coded risk, probabilities, SHAP charts, and </a:t>
            </a:r>
            <a:r>
              <a:rPr dirty="0" err="1"/>
              <a:t>personalised</a:t>
            </a:r>
            <a:r>
              <a:rPr dirty="0"/>
              <a:t> wellness suggestions."</a:t>
            </a:r>
          </a:p>
          <a:p>
            <a:r>
              <a:rPr dirty="0"/>
              <a:t>8. "For High Risk students, Indian crisis helplines are displayed automatically — </a:t>
            </a:r>
            <a:r>
              <a:rPr dirty="0" err="1"/>
              <a:t>iCall</a:t>
            </a:r>
            <a:r>
              <a:rPr dirty="0"/>
              <a:t>, </a:t>
            </a:r>
            <a:r>
              <a:rPr dirty="0" err="1"/>
              <a:t>Vandrevala</a:t>
            </a:r>
            <a:r>
              <a:rPr dirty="0"/>
              <a:t> Foundation, NIMHANS."</a:t>
            </a:r>
          </a:p>
          <a:p>
            <a:endParaRPr dirty="0"/>
          </a:p>
          <a:p>
            <a:r>
              <a:rPr dirty="0"/>
              <a:t>CRITICAL CODE POINT (if asked about the code):</a:t>
            </a:r>
          </a:p>
          <a:p>
            <a:r>
              <a:rPr dirty="0"/>
              <a:t>"The two most important lines are shown at the bottom. First — we enforce the exact column order the model was trained on. Second — we use the same </a:t>
            </a:r>
            <a:r>
              <a:rPr dirty="0" err="1"/>
              <a:t>MinMaxScaler</a:t>
            </a:r>
            <a:r>
              <a:rPr dirty="0"/>
              <a:t> that was fitted during training. If either of these is wrong, the predictions become meaningless."</a:t>
            </a:r>
          </a:p>
          <a:p>
            <a:endParaRPr dirty="0"/>
          </a:p>
          <a:p>
            <a:r>
              <a:rPr dirty="0"/>
              <a:t>IF ASKED about deployment:</a:t>
            </a:r>
          </a:p>
          <a:p>
            <a:r>
              <a:rPr dirty="0"/>
              <a:t>"The app is on Render's free tier. It sleeps after 15 minutes of inactivity — the first request after sleep takes about 30 seconds. This is a known limitation of the free hosting tier."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YOUR MOST IMPORTANT SLIDE for maturity and credibility.</a:t>
            </a:r>
          </a:p>
          <a:p>
            <a:endParaRPr dirty="0"/>
          </a:p>
          <a:p>
            <a:r>
              <a:rPr dirty="0"/>
              <a:t>"Every honest research project must acknowledge its limitations. Let me walk through ours."</a:t>
            </a:r>
          </a:p>
          <a:p>
            <a:endParaRPr dirty="0"/>
          </a:p>
          <a:p>
            <a:r>
              <a:rPr dirty="0"/>
              <a:t>1. "Most importantly — </a:t>
            </a:r>
            <a:r>
              <a:rPr dirty="0" err="1"/>
              <a:t>MINDscan</a:t>
            </a:r>
            <a:r>
              <a:rPr dirty="0"/>
              <a:t> is NOT a clinical diagnosis. It is preliminary screening support. This disclaimer is displayed prominently in the application."</a:t>
            </a:r>
          </a:p>
          <a:p>
            <a:endParaRPr dirty="0"/>
          </a:p>
          <a:p>
            <a:r>
              <a:rPr dirty="0"/>
              <a:t>2. "The data is self-reported. Students may under-report symptoms due to stigma — especially for severe symptoms. This is a fundamental limitation of any questionnaire-based tool."</a:t>
            </a:r>
          </a:p>
          <a:p>
            <a:endParaRPr dirty="0"/>
          </a:p>
          <a:p>
            <a:r>
              <a:rPr dirty="0"/>
              <a:t>3. "The model was trained on MUJ students only. Different universities may have different academic cultures, demographics, and stress patterns. Before using this at another institution, the model should be retrained on that population."</a:t>
            </a:r>
          </a:p>
          <a:p>
            <a:endParaRPr dirty="0"/>
          </a:p>
          <a:p>
            <a:r>
              <a:rPr dirty="0"/>
              <a:t>4. "The anxiety estimation is a proxy. It is GAD-7 inspired, not a validated GAD-7 administration. We were transparent about this in the application and in the report."</a:t>
            </a:r>
          </a:p>
          <a:p>
            <a:endParaRPr dirty="0"/>
          </a:p>
          <a:p>
            <a:r>
              <a:rPr dirty="0"/>
              <a:t>5. "The most significant real-world limitation: it's a standalone tool. For maximum impact, High Risk users need to be connected to campus counselors. This integration is listed as future scope."</a:t>
            </a:r>
          </a:p>
          <a:p>
            <a:endParaRPr dirty="0"/>
          </a:p>
          <a:p>
            <a:r>
              <a:rPr dirty="0"/>
              <a:t>6. "Finally — it's a one-time assessment. We can't track change over time. Longitudinal monitoring would be much more clinically useful."</a:t>
            </a:r>
          </a:p>
          <a:p>
            <a:endParaRPr dirty="0"/>
          </a:p>
          <a:p>
            <a:r>
              <a:rPr dirty="0"/>
              <a:t>WHY THIS SLIDE MATTERS:</a:t>
            </a:r>
          </a:p>
          <a:p>
            <a:r>
              <a:rPr dirty="0"/>
              <a:t>Boards and panels respect researchers who proactively identify limitations — it shows scientific maturity. If they ask about a weakness you haven't mentioned, point to this slide and say "yes, this is one we identified and documented."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"Let me </a:t>
            </a:r>
            <a:r>
              <a:rPr dirty="0" err="1"/>
              <a:t>summarise</a:t>
            </a:r>
            <a:r>
              <a:rPr dirty="0"/>
              <a:t> what was built and where it can go."</a:t>
            </a:r>
          </a:p>
          <a:p>
            <a:endParaRPr dirty="0"/>
          </a:p>
          <a:p>
            <a:r>
              <a:rPr dirty="0"/>
              <a:t>"In terms of results: 95.67% test accuracy, 91% F1 for the High Risk class showing strong precision-recall balance — trained and validated on 1,151 real students with no significant overfitting observed."</a:t>
            </a:r>
          </a:p>
          <a:p>
            <a:endParaRPr dirty="0"/>
          </a:p>
          <a:p>
            <a:r>
              <a:rPr dirty="0"/>
              <a:t>"Every major deliverable was completed — original data collection, 4 models compared, SHAP explainability, SMOTE, GAD-7 inspired estimation, and a publicly deployed application."</a:t>
            </a:r>
          </a:p>
          <a:p>
            <a:endParaRPr dirty="0"/>
          </a:p>
          <a:p>
            <a:r>
              <a:rPr dirty="0"/>
              <a:t>"The research contribution: a system combining PHQ-9, lifestyle data, SHAP explainability, and live deployment — designed specifically for Indian university students."</a:t>
            </a:r>
          </a:p>
          <a:p>
            <a:endParaRPr dirty="0"/>
          </a:p>
          <a:p>
            <a:r>
              <a:rPr dirty="0"/>
              <a:t>"For future scope, the most impactful next step is counselor integration — an opt-in pathway where High Risk students can share results with campus mental health services."</a:t>
            </a:r>
          </a:p>
          <a:p>
            <a:endParaRPr dirty="0"/>
          </a:p>
          <a:p>
            <a:r>
              <a:rPr dirty="0"/>
              <a:t>IF ASKED why extensions weren't done:</a:t>
            </a:r>
          </a:p>
          <a:p>
            <a:r>
              <a:rPr dirty="0"/>
              <a:t>"This is a </a:t>
            </a:r>
            <a:r>
              <a:rPr dirty="0" err="1"/>
              <a:t>B.Tech</a:t>
            </a:r>
            <a:r>
              <a:rPr dirty="0"/>
              <a:t> Major Project with a defined scope and timeline. Counselor integration requires institutional agreements and ethical approval — beyond the scope of a single-semester project. These are clearly documented as future work."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CLOSING SLIDE — Q&amp;A PREP.</a:t>
            </a:r>
          </a:p>
          <a:p>
            <a:endParaRPr dirty="0"/>
          </a:p>
          <a:p>
            <a:r>
              <a:rPr dirty="0"/>
              <a:t>Say: "Thank you. </a:t>
            </a:r>
            <a:r>
              <a:rPr dirty="0" err="1"/>
              <a:t>MINDscan</a:t>
            </a:r>
            <a:r>
              <a:rPr dirty="0"/>
              <a:t> is a clinically grounded, explainable, and publicly deployed AI screening tool for university mental health — combining PHQ-9 with lifestyle data for Indian university students."</a:t>
            </a:r>
          </a:p>
          <a:p>
            <a:endParaRPr dirty="0"/>
          </a:p>
          <a:p>
            <a:r>
              <a:rPr dirty="0"/>
              <a:t>"I'm happy to take any questions."</a:t>
            </a:r>
          </a:p>
          <a:p>
            <a:endParaRPr dirty="0"/>
          </a:p>
          <a:p>
            <a:r>
              <a:rPr dirty="0"/>
              <a:t>--- QUICK ANSWER CARDS FOR PANEL QUESTIONS ---</a:t>
            </a:r>
          </a:p>
          <a:p>
            <a:endParaRPr dirty="0"/>
          </a:p>
          <a:p>
            <a:r>
              <a:rPr dirty="0"/>
              <a:t>Q: "Is the model just learning PHQ thresholds?"</a:t>
            </a:r>
          </a:p>
          <a:p>
            <a:r>
              <a:rPr dirty="0"/>
              <a:t>A: "Yes — the labels are PHQ-derived, so the model is not replacing PHQ-9. Its added value is probability confidence scores, lifestyle context from 13 additional features, SHAP explanations for each prediction, and a deployed screening interface. The formula gives a class. The model gives a complete decision support system."</a:t>
            </a:r>
          </a:p>
          <a:p>
            <a:endParaRPr dirty="0"/>
          </a:p>
          <a:p>
            <a:r>
              <a:rPr dirty="0"/>
              <a:t>Q: "Why Logistic Regression and not deep learning?"</a:t>
            </a:r>
          </a:p>
          <a:p>
            <a:r>
              <a:rPr dirty="0"/>
              <a:t>A: "1,151 samples and 22 structured features. Deep learning would massively overfit. LR is optimal for linear decision boundaries, which match our linear PHQ thresholds."</a:t>
            </a:r>
          </a:p>
          <a:p>
            <a:endParaRPr dirty="0"/>
          </a:p>
          <a:p>
            <a:r>
              <a:rPr dirty="0"/>
              <a:t>Q: "How did you handle class imbalance?"</a:t>
            </a:r>
          </a:p>
          <a:p>
            <a:r>
              <a:rPr dirty="0"/>
              <a:t>A: "SMOTE — applied only to training data. Test set preserved real-world distribution. High Risk F1 = 91% — strong balance between precision and recall."</a:t>
            </a:r>
          </a:p>
          <a:p>
            <a:endParaRPr dirty="0"/>
          </a:p>
          <a:p>
            <a:r>
              <a:rPr dirty="0"/>
              <a:t>Q: "Is this a medical device or clinical tool?"</a:t>
            </a:r>
          </a:p>
          <a:p>
            <a:r>
              <a:rPr dirty="0"/>
              <a:t>A: "No. It is explicitly a preliminary screening support tool — not a diagnostic instrument. The disclaimer is displayed prominently in the application."</a:t>
            </a:r>
          </a:p>
          <a:p>
            <a:endParaRPr dirty="0"/>
          </a:p>
          <a:p>
            <a:r>
              <a:rPr dirty="0"/>
              <a:t>Q: "What is SHAP?"</a:t>
            </a:r>
          </a:p>
          <a:p>
            <a:r>
              <a:rPr dirty="0"/>
              <a:t>A: "Game theory-based method assigning a contribution score to each feature per prediction. PHQ-3 sleep trouble was our most influential feature globally — SHAP score 0.5996."</a:t>
            </a:r>
          </a:p>
          <a:p>
            <a:endParaRPr dirty="0"/>
          </a:p>
          <a:p>
            <a:r>
              <a:rPr dirty="0"/>
              <a:t>Q: "What about the GAD-7 score?"</a:t>
            </a:r>
          </a:p>
          <a:p>
            <a:r>
              <a:rPr dirty="0"/>
              <a:t>A: "It is a GAD-7 INSPIRED proxy estimate using 3 related survey questions — not a validated clinical GAD-7 administration. Clearly labelled as an estimate in the app."</a:t>
            </a:r>
          </a:p>
          <a:p>
            <a:endParaRPr dirty="0"/>
          </a:p>
          <a:p>
            <a:r>
              <a:rPr dirty="0"/>
              <a:t>Q: "Does the model overfit?"</a:t>
            </a:r>
          </a:p>
          <a:p>
            <a:r>
              <a:rPr dirty="0"/>
              <a:t>A: "CV accuracy is 95.98%, test accuracy is 95.67% — a gap of only 0.3%. No significant overfitting was observed."</a:t>
            </a:r>
          </a:p>
          <a:p>
            <a:endParaRPr dirty="0"/>
          </a:p>
          <a:p>
            <a:r>
              <a:rPr dirty="0"/>
              <a:t>Q: "What would you do differently?"</a:t>
            </a:r>
          </a:p>
          <a:p>
            <a:r>
              <a:rPr dirty="0"/>
              <a:t>A: "Collect full validated GAD-7 data. Expand dataset to multiple universities. Add counselor referral integration as the highest-priority next step." </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WHAT TO SAY - open the live app on projector for this slide.
Let me show you the full application - it is running live right now.
Walk through each feature:
The core feature is the Risk Assessment - PHQ-9 based ML prediction. We extended the app into a complete wellness platform.
1. Progress Dashboard - track risk and wellness score across multiple assessments over time.
2. Private Journal - guided prompts, password-protected, entries saved only on this device - never sent to server.
3. Breathing Timer - guided box-breathing for anxiety relief. UI-only, no ML.
4. Body Scan - text-guided mindfulness meditation. Wellness tool, no backend.
5. Quick Mood Check-in - daily emoji mood log without a full PHQ assessment.
KEY POINT: All data (journal, history, profile) stored in browser localStorage only. Nothing sent to server. Flask backend only receives data when student submits an assessment.
IF ASKED why localStorage not a database: Deliberate privacy-first design. localStorage means zero data collection - removing the stigma barrier.
IF ASKED about Body Scan/Breathing Timer being AI: No - UI-only wellness tools. No ML model. Included to make MINDscan a holistic wellness companion.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54864"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57200"/>
            <a:ext cx="8686800" cy="274320"/>
          </a:xfrm>
          <a:prstGeom prst="rect">
            <a:avLst/>
          </a:prstGeom>
          <a:noFill/>
        </p:spPr>
        <p:txBody>
          <a:bodyPr wrap="square">
            <a:spAutoFit/>
          </a:bodyPr>
          <a:lstStyle/>
          <a:p>
            <a:pPr algn="l"/>
            <a:r>
              <a:rPr sz="1000" b="1" i="0">
                <a:solidFill>
                  <a:srgbClr val="7A8AA0"/>
                </a:solidFill>
                <a:latin typeface="Calibri"/>
              </a:rPr>
              <a:t>DS4270 MAJOR PROJECT  ·  MANIPAL UNIVERSITY JAIPUR  ·  2026</a:t>
            </a:r>
          </a:p>
        </p:txBody>
      </p:sp>
      <p:sp>
        <p:nvSpPr>
          <p:cNvPr id="6" name="TextBox 5"/>
          <p:cNvSpPr txBox="1"/>
          <p:nvPr/>
        </p:nvSpPr>
        <p:spPr>
          <a:xfrm>
            <a:off x="457200" y="960120"/>
            <a:ext cx="8686800" cy="1097280"/>
          </a:xfrm>
          <a:prstGeom prst="rect">
            <a:avLst/>
          </a:prstGeom>
          <a:noFill/>
        </p:spPr>
        <p:txBody>
          <a:bodyPr wrap="square">
            <a:spAutoFit/>
          </a:bodyPr>
          <a:lstStyle/>
          <a:p>
            <a:pPr algn="l"/>
            <a:r>
              <a:rPr sz="5600" b="1">
                <a:solidFill>
                  <a:srgbClr val="E8F0FE"/>
                </a:solidFill>
                <a:latin typeface="Calibri"/>
              </a:rPr>
              <a:t>🧠 MIND</a:t>
            </a:r>
            <a:r>
              <a:rPr sz="5600" b="1">
                <a:solidFill>
                  <a:srgbClr val="4FA3FF"/>
                </a:solidFill>
                <a:latin typeface="Calibri"/>
              </a:rPr>
              <a:t>scan</a:t>
            </a:r>
          </a:p>
        </p:txBody>
      </p:sp>
      <p:sp>
        <p:nvSpPr>
          <p:cNvPr id="7" name="TextBox 6"/>
          <p:cNvSpPr txBox="1"/>
          <p:nvPr/>
        </p:nvSpPr>
        <p:spPr>
          <a:xfrm>
            <a:off x="457200" y="2103120"/>
            <a:ext cx="8412480" cy="457200"/>
          </a:xfrm>
          <a:prstGeom prst="rect">
            <a:avLst/>
          </a:prstGeom>
          <a:noFill/>
        </p:spPr>
        <p:txBody>
          <a:bodyPr wrap="square">
            <a:spAutoFit/>
          </a:bodyPr>
          <a:lstStyle/>
          <a:p>
            <a:pPr algn="l"/>
            <a:r>
              <a:rPr sz="1700" b="0" i="0">
                <a:solidFill>
                  <a:srgbClr val="7A8AA0"/>
                </a:solidFill>
                <a:latin typeface="Calibri"/>
              </a:rPr>
              <a:t>AI-Based Mental Health Risk Screening System for University Students</a:t>
            </a:r>
          </a:p>
        </p:txBody>
      </p:sp>
      <p:sp>
        <p:nvSpPr>
          <p:cNvPr id="8" name="Rectangle 7"/>
          <p:cNvSpPr/>
          <p:nvPr/>
        </p:nvSpPr>
        <p:spPr>
          <a:xfrm>
            <a:off x="457200" y="2697480"/>
            <a:ext cx="3657600" cy="254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834640"/>
            <a:ext cx="8412480" cy="292608"/>
          </a:xfrm>
          <a:prstGeom prst="rect">
            <a:avLst/>
          </a:prstGeom>
          <a:noFill/>
        </p:spPr>
        <p:txBody>
          <a:bodyPr wrap="square">
            <a:spAutoFit/>
          </a:bodyPr>
          <a:lstStyle/>
          <a:p>
            <a:pPr algn="l"/>
            <a:r>
              <a:rPr sz="1100" b="0" i="1">
                <a:solidFill>
                  <a:srgbClr val="5A7895"/>
                </a:solidFill>
                <a:latin typeface="Calibri"/>
              </a:rPr>
              <a:t>Preliminary screening support  ·  Anonymous  ·  Explainable AI  ·  Not a diagnostic tool</a:t>
            </a:r>
          </a:p>
        </p:txBody>
      </p:sp>
      <p:sp>
        <p:nvSpPr>
          <p:cNvPr id="10" name="Rectangle 9"/>
          <p:cNvSpPr/>
          <p:nvPr/>
        </p:nvSpPr>
        <p:spPr>
          <a:xfrm>
            <a:off x="457200" y="3273552"/>
            <a:ext cx="1737360" cy="347472"/>
          </a:xfrm>
          <a:prstGeom prst="rect">
            <a:avLst/>
          </a:prstGeom>
          <a:solidFill>
            <a:srgbClr val="0E1623"/>
          </a:solidFill>
          <a:ln w="6350">
            <a:solidFill>
              <a:srgbClr val="1E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310128"/>
            <a:ext cx="1600200" cy="256032"/>
          </a:xfrm>
          <a:prstGeom prst="rect">
            <a:avLst/>
          </a:prstGeom>
          <a:noFill/>
        </p:spPr>
        <p:txBody>
          <a:bodyPr wrap="square">
            <a:spAutoFit/>
          </a:bodyPr>
          <a:lstStyle/>
          <a:p>
            <a:pPr algn="l"/>
            <a:r>
              <a:rPr sz="1000" b="0" i="0">
                <a:solidFill>
                  <a:srgbClr val="7A8AA0"/>
                </a:solidFill>
                <a:latin typeface="Calibri"/>
              </a:rPr>
              <a:t>👩‍💻  Priyanshi Goel</a:t>
            </a:r>
          </a:p>
        </p:txBody>
      </p:sp>
      <p:sp>
        <p:nvSpPr>
          <p:cNvPr id="12" name="Rectangle 11"/>
          <p:cNvSpPr/>
          <p:nvPr/>
        </p:nvSpPr>
        <p:spPr>
          <a:xfrm>
            <a:off x="2423160" y="3273552"/>
            <a:ext cx="1737360" cy="347472"/>
          </a:xfrm>
          <a:prstGeom prst="rect">
            <a:avLst/>
          </a:prstGeom>
          <a:solidFill>
            <a:srgbClr val="0E1623"/>
          </a:solidFill>
          <a:ln w="6350">
            <a:solidFill>
              <a:srgbClr val="1E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4600" y="3310128"/>
            <a:ext cx="1600200" cy="256032"/>
          </a:xfrm>
          <a:prstGeom prst="rect">
            <a:avLst/>
          </a:prstGeom>
          <a:noFill/>
        </p:spPr>
        <p:txBody>
          <a:bodyPr wrap="square">
            <a:spAutoFit/>
          </a:bodyPr>
          <a:lstStyle/>
          <a:p>
            <a:pPr algn="l"/>
            <a:r>
              <a:rPr sz="1000" b="0" i="0">
                <a:solidFill>
                  <a:srgbClr val="7A8AA0"/>
                </a:solidFill>
                <a:latin typeface="Calibri"/>
              </a:rPr>
              <a:t>🏛️  Manipal University Jaipur</a:t>
            </a:r>
          </a:p>
        </p:txBody>
      </p:sp>
      <p:sp>
        <p:nvSpPr>
          <p:cNvPr id="14" name="Rectangle 13"/>
          <p:cNvSpPr/>
          <p:nvPr/>
        </p:nvSpPr>
        <p:spPr>
          <a:xfrm>
            <a:off x="5212080" y="3273552"/>
            <a:ext cx="1737360" cy="347472"/>
          </a:xfrm>
          <a:prstGeom prst="rect">
            <a:avLst/>
          </a:prstGeom>
          <a:solidFill>
            <a:srgbClr val="0E1623"/>
          </a:solidFill>
          <a:ln w="6350">
            <a:solidFill>
              <a:srgbClr val="1E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0" y="3310128"/>
            <a:ext cx="1600200" cy="256032"/>
          </a:xfrm>
          <a:prstGeom prst="rect">
            <a:avLst/>
          </a:prstGeom>
          <a:noFill/>
        </p:spPr>
        <p:txBody>
          <a:bodyPr wrap="square">
            <a:spAutoFit/>
          </a:bodyPr>
          <a:lstStyle/>
          <a:p>
            <a:pPr algn="l"/>
            <a:r>
              <a:rPr sz="1000" b="0" i="0">
                <a:solidFill>
                  <a:srgbClr val="7A8AA0"/>
                </a:solidFill>
                <a:latin typeface="Calibri"/>
              </a:rPr>
              <a:t>🧑‍🏫  Dr. Aparna Tripathi</a:t>
            </a:r>
          </a:p>
        </p:txBody>
      </p:sp>
      <p:sp>
        <p:nvSpPr>
          <p:cNvPr id="16" name="Rectangle 15"/>
          <p:cNvSpPr/>
          <p:nvPr/>
        </p:nvSpPr>
        <p:spPr>
          <a:xfrm>
            <a:off x="7388352" y="3273552"/>
            <a:ext cx="1737360" cy="347472"/>
          </a:xfrm>
          <a:prstGeom prst="rect">
            <a:avLst/>
          </a:prstGeom>
          <a:solidFill>
            <a:srgbClr val="0E1623"/>
          </a:solidFill>
          <a:ln w="6350">
            <a:solidFill>
              <a:srgbClr val="1E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79792" y="3310128"/>
            <a:ext cx="1600200" cy="256032"/>
          </a:xfrm>
          <a:prstGeom prst="rect">
            <a:avLst/>
          </a:prstGeom>
          <a:noFill/>
        </p:spPr>
        <p:txBody>
          <a:bodyPr wrap="square">
            <a:spAutoFit/>
          </a:bodyPr>
          <a:lstStyle/>
          <a:p>
            <a:pPr algn="l"/>
            <a:r>
              <a:rPr sz="1000" b="0" i="0">
                <a:solidFill>
                  <a:srgbClr val="7A8AA0"/>
                </a:solidFill>
                <a:latin typeface="Calibri"/>
              </a:rPr>
              <a:t>📅  June 2026</a:t>
            </a:r>
          </a:p>
        </p:txBody>
      </p:sp>
      <p:sp>
        <p:nvSpPr>
          <p:cNvPr id="18" name="TextBox 17"/>
          <p:cNvSpPr txBox="1"/>
          <p:nvPr/>
        </p:nvSpPr>
        <p:spPr>
          <a:xfrm>
            <a:off x="457200" y="3822191"/>
            <a:ext cx="8229600" cy="329184"/>
          </a:xfrm>
          <a:prstGeom prst="rect">
            <a:avLst/>
          </a:prstGeom>
          <a:noFill/>
        </p:spPr>
        <p:txBody>
          <a:bodyPr wrap="square">
            <a:spAutoFit/>
          </a:bodyPr>
          <a:lstStyle/>
          <a:p>
            <a:pPr algn="l"/>
            <a:r>
              <a:rPr sz="1300" b="1" i="0">
                <a:solidFill>
                  <a:srgbClr val="4FA3FF"/>
                </a:solidFill>
                <a:latin typeface="Calibri"/>
              </a:rPr>
              <a:t>🔴  Publicly Deployed:  mental-health-predictor-0oat.onrender.com</a:t>
            </a:r>
          </a:p>
        </p:txBody>
      </p:sp>
      <p:sp>
        <p:nvSpPr>
          <p:cNvPr id="19" name="Rectangle 18"/>
          <p:cNvSpPr/>
          <p:nvPr/>
        </p:nvSpPr>
        <p:spPr>
          <a:xfrm>
            <a:off x="9372600" y="914400"/>
            <a:ext cx="2514600" cy="1143000"/>
          </a:xfrm>
          <a:prstGeom prst="rect">
            <a:avLst/>
          </a:prstGeom>
          <a:solidFill>
            <a:srgbClr val="0E1623"/>
          </a:solidFill>
          <a:ln w="190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72600" y="1024128"/>
            <a:ext cx="2514600" cy="640080"/>
          </a:xfrm>
          <a:prstGeom prst="rect">
            <a:avLst/>
          </a:prstGeom>
          <a:noFill/>
        </p:spPr>
        <p:txBody>
          <a:bodyPr wrap="square">
            <a:spAutoFit/>
          </a:bodyPr>
          <a:lstStyle/>
          <a:p>
            <a:pPr algn="ctr"/>
            <a:r>
              <a:rPr sz="2800" b="1" i="0">
                <a:solidFill>
                  <a:srgbClr val="4FA3FF"/>
                </a:solidFill>
                <a:latin typeface="Calibri"/>
              </a:rPr>
              <a:t>95.67%</a:t>
            </a:r>
          </a:p>
        </p:txBody>
      </p:sp>
      <p:sp>
        <p:nvSpPr>
          <p:cNvPr id="21" name="TextBox 20"/>
          <p:cNvSpPr txBox="1"/>
          <p:nvPr/>
        </p:nvSpPr>
        <p:spPr>
          <a:xfrm>
            <a:off x="9372600" y="1691640"/>
            <a:ext cx="2514600" cy="237744"/>
          </a:xfrm>
          <a:prstGeom prst="rect">
            <a:avLst/>
          </a:prstGeom>
          <a:noFill/>
        </p:spPr>
        <p:txBody>
          <a:bodyPr wrap="square">
            <a:spAutoFit/>
          </a:bodyPr>
          <a:lstStyle/>
          <a:p>
            <a:pPr algn="ctr"/>
            <a:r>
              <a:rPr sz="1000" b="0" i="0">
                <a:solidFill>
                  <a:srgbClr val="7A8AA0"/>
                </a:solidFill>
                <a:latin typeface="Calibri"/>
              </a:rPr>
              <a:t>Test Accuracy</a:t>
            </a:r>
          </a:p>
        </p:txBody>
      </p:sp>
      <p:sp>
        <p:nvSpPr>
          <p:cNvPr id="22" name="Rectangle 21"/>
          <p:cNvSpPr/>
          <p:nvPr/>
        </p:nvSpPr>
        <p:spPr>
          <a:xfrm>
            <a:off x="9372600" y="2176272"/>
            <a:ext cx="2514600" cy="1143000"/>
          </a:xfrm>
          <a:prstGeom prst="rect">
            <a:avLst/>
          </a:prstGeom>
          <a:solidFill>
            <a:srgbClr val="0E1623"/>
          </a:solidFill>
          <a:ln w="190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72600" y="2286000"/>
            <a:ext cx="2514600" cy="640080"/>
          </a:xfrm>
          <a:prstGeom prst="rect">
            <a:avLst/>
          </a:prstGeom>
          <a:noFill/>
        </p:spPr>
        <p:txBody>
          <a:bodyPr wrap="square">
            <a:spAutoFit/>
          </a:bodyPr>
          <a:lstStyle/>
          <a:p>
            <a:pPr algn="ctr"/>
            <a:r>
              <a:rPr sz="2800" b="1" i="0">
                <a:solidFill>
                  <a:srgbClr val="4FA3FF"/>
                </a:solidFill>
                <a:latin typeface="Calibri"/>
              </a:rPr>
              <a:t>95.65%</a:t>
            </a:r>
          </a:p>
        </p:txBody>
      </p:sp>
      <p:sp>
        <p:nvSpPr>
          <p:cNvPr id="24" name="TextBox 23"/>
          <p:cNvSpPr txBox="1"/>
          <p:nvPr/>
        </p:nvSpPr>
        <p:spPr>
          <a:xfrm>
            <a:off x="9372600" y="2953512"/>
            <a:ext cx="2514600" cy="237744"/>
          </a:xfrm>
          <a:prstGeom prst="rect">
            <a:avLst/>
          </a:prstGeom>
          <a:noFill/>
        </p:spPr>
        <p:txBody>
          <a:bodyPr wrap="square">
            <a:spAutoFit/>
          </a:bodyPr>
          <a:lstStyle/>
          <a:p>
            <a:pPr algn="ctr"/>
            <a:r>
              <a:rPr sz="1000" b="0" i="0">
                <a:solidFill>
                  <a:srgbClr val="7A8AA0"/>
                </a:solidFill>
                <a:latin typeface="Calibri"/>
              </a:rPr>
              <a:t>F1-Score</a:t>
            </a:r>
          </a:p>
        </p:txBody>
      </p:sp>
      <p:sp>
        <p:nvSpPr>
          <p:cNvPr id="25" name="Rectangle 24"/>
          <p:cNvSpPr/>
          <p:nvPr/>
        </p:nvSpPr>
        <p:spPr>
          <a:xfrm>
            <a:off x="9372600" y="3438144"/>
            <a:ext cx="2514600" cy="1143000"/>
          </a:xfrm>
          <a:prstGeom prst="rect">
            <a:avLst/>
          </a:prstGeom>
          <a:solidFill>
            <a:srgbClr val="0E1623"/>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72600" y="3547872"/>
            <a:ext cx="2514600" cy="640080"/>
          </a:xfrm>
          <a:prstGeom prst="rect">
            <a:avLst/>
          </a:prstGeom>
          <a:noFill/>
        </p:spPr>
        <p:txBody>
          <a:bodyPr wrap="square">
            <a:spAutoFit/>
          </a:bodyPr>
          <a:lstStyle/>
          <a:p>
            <a:pPr algn="ctr"/>
            <a:r>
              <a:rPr sz="2800" b="1" i="0">
                <a:solidFill>
                  <a:srgbClr val="A78BFA"/>
                </a:solidFill>
                <a:latin typeface="Calibri"/>
              </a:rPr>
              <a:t>1,151</a:t>
            </a:r>
          </a:p>
        </p:txBody>
      </p:sp>
      <p:sp>
        <p:nvSpPr>
          <p:cNvPr id="27" name="TextBox 26"/>
          <p:cNvSpPr txBox="1"/>
          <p:nvPr/>
        </p:nvSpPr>
        <p:spPr>
          <a:xfrm>
            <a:off x="9372600" y="4215384"/>
            <a:ext cx="2514600" cy="237744"/>
          </a:xfrm>
          <a:prstGeom prst="rect">
            <a:avLst/>
          </a:prstGeom>
          <a:noFill/>
        </p:spPr>
        <p:txBody>
          <a:bodyPr wrap="square">
            <a:spAutoFit/>
          </a:bodyPr>
          <a:lstStyle/>
          <a:p>
            <a:pPr algn="ctr"/>
            <a:r>
              <a:rPr sz="1000" b="0" i="0">
                <a:solidFill>
                  <a:srgbClr val="7A8AA0"/>
                </a:solidFill>
                <a:latin typeface="Calibri"/>
              </a:rPr>
              <a:t>Students Surveyed</a:t>
            </a:r>
          </a:p>
        </p:txBody>
      </p:sp>
      <p:sp>
        <p:nvSpPr>
          <p:cNvPr id="28" name="Rectangle 27"/>
          <p:cNvSpPr/>
          <p:nvPr/>
        </p:nvSpPr>
        <p:spPr>
          <a:xfrm>
            <a:off x="9372600" y="4700016"/>
            <a:ext cx="2514600" cy="1143000"/>
          </a:xfrm>
          <a:prstGeom prst="rect">
            <a:avLst/>
          </a:prstGeom>
          <a:solidFill>
            <a:srgbClr val="0E1623"/>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72600" y="4809744"/>
            <a:ext cx="2514600" cy="640080"/>
          </a:xfrm>
          <a:prstGeom prst="rect">
            <a:avLst/>
          </a:prstGeom>
          <a:noFill/>
        </p:spPr>
        <p:txBody>
          <a:bodyPr wrap="square">
            <a:spAutoFit/>
          </a:bodyPr>
          <a:lstStyle/>
          <a:p>
            <a:pPr algn="ctr"/>
            <a:r>
              <a:rPr sz="1800" b="1" i="0">
                <a:solidFill>
                  <a:srgbClr val="22C55E"/>
                </a:solidFill>
                <a:latin typeface="Calibri"/>
              </a:rPr>
              <a:t>LR Model</a:t>
            </a:r>
          </a:p>
        </p:txBody>
      </p:sp>
      <p:sp>
        <p:nvSpPr>
          <p:cNvPr id="30" name="TextBox 29"/>
          <p:cNvSpPr txBox="1"/>
          <p:nvPr/>
        </p:nvSpPr>
        <p:spPr>
          <a:xfrm>
            <a:off x="9372600" y="5477256"/>
            <a:ext cx="2514600" cy="237744"/>
          </a:xfrm>
          <a:prstGeom prst="rect">
            <a:avLst/>
          </a:prstGeom>
          <a:noFill/>
        </p:spPr>
        <p:txBody>
          <a:bodyPr wrap="square">
            <a:spAutoFit/>
          </a:bodyPr>
          <a:lstStyle/>
          <a:p>
            <a:pPr algn="ctr"/>
            <a:r>
              <a:rPr sz="1000" b="0" i="0">
                <a:solidFill>
                  <a:srgbClr val="7A8AA0"/>
                </a:solidFill>
                <a:latin typeface="Calibri"/>
              </a:rPr>
              <a:t>Best Algorithm</a:t>
            </a:r>
          </a:p>
        </p:txBody>
      </p:sp>
      <p:sp>
        <p:nvSpPr>
          <p:cNvPr id="31" name="Rectangle 30"/>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33" name="TextBox 32"/>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1 /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256032"/>
          </a:xfrm>
          <a:prstGeom prst="rect">
            <a:avLst/>
          </a:prstGeom>
          <a:noFill/>
        </p:spPr>
        <p:txBody>
          <a:bodyPr wrap="square">
            <a:spAutoFit/>
          </a:bodyPr>
          <a:lstStyle/>
          <a:p>
            <a:pPr algn="l"/>
            <a:r>
              <a:rPr sz="900" b="1" i="0">
                <a:solidFill>
                  <a:srgbClr val="4FA3FF"/>
                </a:solidFill>
                <a:latin typeface="Calibri"/>
              </a:rPr>
              <a:t>01 · PROBLEM STATEMENT</a:t>
            </a:r>
          </a:p>
        </p:txBody>
      </p:sp>
      <p:sp>
        <p:nvSpPr>
          <p:cNvPr id="5" name="TextBox 4"/>
          <p:cNvSpPr txBox="1"/>
          <p:nvPr/>
        </p:nvSpPr>
        <p:spPr>
          <a:xfrm>
            <a:off x="411480" y="420624"/>
            <a:ext cx="11338560" cy="329184"/>
          </a:xfrm>
          <a:prstGeom prst="rect">
            <a:avLst/>
          </a:prstGeom>
          <a:noFill/>
        </p:spPr>
        <p:txBody>
          <a:bodyPr wrap="square">
            <a:spAutoFit/>
          </a:bodyPr>
          <a:lstStyle/>
          <a:p>
            <a:pPr algn="l"/>
            <a:r>
              <a:rPr sz="1100" b="1" i="0">
                <a:solidFill>
                  <a:srgbClr val="7A8AA0"/>
                </a:solidFill>
                <a:latin typeface="Calibri"/>
              </a:rPr>
              <a:t>The Problem We Addressed</a:t>
            </a:r>
          </a:p>
        </p:txBody>
      </p:sp>
      <p:sp>
        <p:nvSpPr>
          <p:cNvPr id="6" name="TextBox 5"/>
          <p:cNvSpPr txBox="1"/>
          <p:nvPr/>
        </p:nvSpPr>
        <p:spPr>
          <a:xfrm>
            <a:off x="411480" y="713232"/>
            <a:ext cx="11338560" cy="658368"/>
          </a:xfrm>
          <a:prstGeom prst="rect">
            <a:avLst/>
          </a:prstGeom>
          <a:noFill/>
        </p:spPr>
        <p:txBody>
          <a:bodyPr wrap="square">
            <a:spAutoFit/>
          </a:bodyPr>
          <a:lstStyle/>
          <a:p>
            <a:pPr algn="l"/>
            <a:r>
              <a:rPr sz="3000" b="1" i="0">
                <a:solidFill>
                  <a:srgbClr val="E8F0FE"/>
                </a:solidFill>
                <a:latin typeface="Calibri"/>
              </a:rPr>
              <a:t>University Mental Health Has a Screening Gap</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463040"/>
            <a:ext cx="3657600" cy="3200400"/>
          </a:xfrm>
          <a:prstGeom prst="rect">
            <a:avLst/>
          </a:prstGeom>
          <a:solidFill>
            <a:srgbClr val="0E1623"/>
          </a:solidFill>
          <a:ln w="2540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801368"/>
            <a:ext cx="1828800" cy="822960"/>
          </a:xfrm>
          <a:prstGeom prst="rect">
            <a:avLst/>
          </a:prstGeom>
          <a:noFill/>
        </p:spPr>
        <p:txBody>
          <a:bodyPr wrap="square">
            <a:spAutoFit/>
          </a:bodyPr>
          <a:lstStyle/>
          <a:p>
            <a:pPr algn="ctr"/>
            <a:r>
              <a:rPr sz="4200" b="0" i="0" dirty="0">
                <a:solidFill>
                  <a:srgbClr val="E8F0FE"/>
                </a:solidFill>
                <a:latin typeface="Calibri"/>
              </a:rPr>
              <a:t>📉</a:t>
            </a:r>
          </a:p>
        </p:txBody>
      </p:sp>
      <p:sp>
        <p:nvSpPr>
          <p:cNvPr id="10" name="TextBox 9"/>
          <p:cNvSpPr txBox="1"/>
          <p:nvPr/>
        </p:nvSpPr>
        <p:spPr>
          <a:xfrm>
            <a:off x="502920" y="2578608"/>
            <a:ext cx="3429000" cy="365760"/>
          </a:xfrm>
          <a:prstGeom prst="rect">
            <a:avLst/>
          </a:prstGeom>
          <a:noFill/>
        </p:spPr>
        <p:txBody>
          <a:bodyPr wrap="square">
            <a:spAutoFit/>
          </a:bodyPr>
          <a:lstStyle/>
          <a:p>
            <a:pPr algn="ctr"/>
            <a:r>
              <a:rPr sz="1400" b="1" i="0">
                <a:solidFill>
                  <a:srgbClr val="4FA3FF"/>
                </a:solidFill>
                <a:latin typeface="Calibri"/>
              </a:rPr>
              <a:t>Scale of the Crisis</a:t>
            </a:r>
          </a:p>
        </p:txBody>
      </p:sp>
      <p:sp>
        <p:nvSpPr>
          <p:cNvPr id="11" name="TextBox 10"/>
          <p:cNvSpPr txBox="1"/>
          <p:nvPr/>
        </p:nvSpPr>
        <p:spPr>
          <a:xfrm>
            <a:off x="502920" y="2999232"/>
            <a:ext cx="3429000" cy="731520"/>
          </a:xfrm>
          <a:prstGeom prst="rect">
            <a:avLst/>
          </a:prstGeom>
          <a:noFill/>
        </p:spPr>
        <p:txBody>
          <a:bodyPr wrap="square">
            <a:spAutoFit/>
          </a:bodyPr>
          <a:lstStyle/>
          <a:p>
            <a:pPr algn="ctr"/>
            <a:r>
              <a:rPr sz="1150" b="0" i="0">
                <a:solidFill>
                  <a:srgbClr val="E8F0FE"/>
                </a:solidFill>
                <a:latin typeface="Calibri"/>
              </a:rPr>
              <a:t>1 in 4 university students
experiences depression or anxiety</a:t>
            </a:r>
          </a:p>
        </p:txBody>
      </p:sp>
      <p:sp>
        <p:nvSpPr>
          <p:cNvPr id="12" name="Rectangle 11"/>
          <p:cNvSpPr/>
          <p:nvPr/>
        </p:nvSpPr>
        <p:spPr>
          <a:xfrm>
            <a:off x="4389120" y="1463040"/>
            <a:ext cx="3657600" cy="3200400"/>
          </a:xfrm>
          <a:prstGeom prst="rect">
            <a:avLst/>
          </a:prstGeom>
          <a:solidFill>
            <a:srgbClr val="0E1623"/>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12080" y="1768155"/>
            <a:ext cx="1828800" cy="822960"/>
          </a:xfrm>
          <a:prstGeom prst="rect">
            <a:avLst/>
          </a:prstGeom>
          <a:noFill/>
        </p:spPr>
        <p:txBody>
          <a:bodyPr wrap="square">
            <a:spAutoFit/>
          </a:bodyPr>
          <a:lstStyle/>
          <a:p>
            <a:pPr algn="ctr"/>
            <a:r>
              <a:rPr sz="4200" b="0" i="0" dirty="0">
                <a:solidFill>
                  <a:srgbClr val="E8F0FE"/>
                </a:solidFill>
                <a:latin typeface="Calibri"/>
              </a:rPr>
              <a:t>🚫</a:t>
            </a:r>
          </a:p>
        </p:txBody>
      </p:sp>
      <p:sp>
        <p:nvSpPr>
          <p:cNvPr id="14" name="TextBox 13"/>
          <p:cNvSpPr txBox="1"/>
          <p:nvPr/>
        </p:nvSpPr>
        <p:spPr>
          <a:xfrm>
            <a:off x="4526280" y="2578608"/>
            <a:ext cx="3429000" cy="365760"/>
          </a:xfrm>
          <a:prstGeom prst="rect">
            <a:avLst/>
          </a:prstGeom>
          <a:noFill/>
        </p:spPr>
        <p:txBody>
          <a:bodyPr wrap="square">
            <a:spAutoFit/>
          </a:bodyPr>
          <a:lstStyle/>
          <a:p>
            <a:pPr algn="ctr"/>
            <a:r>
              <a:rPr sz="1400" b="1" i="0">
                <a:solidFill>
                  <a:srgbClr val="F59E0B"/>
                </a:solidFill>
                <a:latin typeface="Calibri"/>
              </a:rPr>
              <a:t>Students Don't Seek Help</a:t>
            </a:r>
          </a:p>
        </p:txBody>
      </p:sp>
      <p:sp>
        <p:nvSpPr>
          <p:cNvPr id="15" name="TextBox 14"/>
          <p:cNvSpPr txBox="1"/>
          <p:nvPr/>
        </p:nvSpPr>
        <p:spPr>
          <a:xfrm>
            <a:off x="4526280" y="2999232"/>
            <a:ext cx="3429000" cy="731520"/>
          </a:xfrm>
          <a:prstGeom prst="rect">
            <a:avLst/>
          </a:prstGeom>
          <a:noFill/>
        </p:spPr>
        <p:txBody>
          <a:bodyPr wrap="square">
            <a:spAutoFit/>
          </a:bodyPr>
          <a:lstStyle/>
          <a:p>
            <a:pPr algn="ctr"/>
            <a:r>
              <a:rPr sz="1150" b="0" i="0">
                <a:solidFill>
                  <a:srgbClr val="E8F0FE"/>
                </a:solidFill>
                <a:latin typeface="Calibri"/>
              </a:rPr>
              <a:t>Stigma, cost, and lack of awareness
are the three main barriers</a:t>
            </a:r>
          </a:p>
        </p:txBody>
      </p:sp>
      <p:sp>
        <p:nvSpPr>
          <p:cNvPr id="16" name="Rectangle 15"/>
          <p:cNvSpPr/>
          <p:nvPr/>
        </p:nvSpPr>
        <p:spPr>
          <a:xfrm>
            <a:off x="8412480" y="1463040"/>
            <a:ext cx="3429000" cy="3200400"/>
          </a:xfrm>
          <a:prstGeom prst="rect">
            <a:avLst/>
          </a:prstGeom>
          <a:solidFill>
            <a:srgbClr val="0E1623"/>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0" y="1792066"/>
            <a:ext cx="1828800" cy="822960"/>
          </a:xfrm>
          <a:prstGeom prst="rect">
            <a:avLst/>
          </a:prstGeom>
          <a:noFill/>
        </p:spPr>
        <p:txBody>
          <a:bodyPr wrap="square">
            <a:spAutoFit/>
          </a:bodyPr>
          <a:lstStyle/>
          <a:p>
            <a:pPr algn="ctr"/>
            <a:r>
              <a:rPr sz="4200" b="0" i="0" dirty="0">
                <a:solidFill>
                  <a:srgbClr val="E8F0FE"/>
                </a:solidFill>
                <a:latin typeface="Calibri"/>
              </a:rPr>
              <a:t>🔍</a:t>
            </a:r>
          </a:p>
        </p:txBody>
      </p:sp>
      <p:sp>
        <p:nvSpPr>
          <p:cNvPr id="18" name="TextBox 17"/>
          <p:cNvSpPr txBox="1"/>
          <p:nvPr/>
        </p:nvSpPr>
        <p:spPr>
          <a:xfrm>
            <a:off x="8549640" y="2578608"/>
            <a:ext cx="3429000" cy="365760"/>
          </a:xfrm>
          <a:prstGeom prst="rect">
            <a:avLst/>
          </a:prstGeom>
          <a:noFill/>
        </p:spPr>
        <p:txBody>
          <a:bodyPr wrap="square">
            <a:spAutoFit/>
          </a:bodyPr>
          <a:lstStyle/>
          <a:p>
            <a:pPr algn="ctr"/>
            <a:r>
              <a:rPr sz="1400" b="1" i="0">
                <a:solidFill>
                  <a:srgbClr val="EF4444"/>
                </a:solidFill>
                <a:latin typeface="Calibri"/>
              </a:rPr>
              <a:t>No Suitable Tool Exists</a:t>
            </a:r>
          </a:p>
        </p:txBody>
      </p:sp>
      <p:sp>
        <p:nvSpPr>
          <p:cNvPr id="19" name="TextBox 18"/>
          <p:cNvSpPr txBox="1"/>
          <p:nvPr/>
        </p:nvSpPr>
        <p:spPr>
          <a:xfrm>
            <a:off x="8549640" y="2999232"/>
            <a:ext cx="3429000" cy="731520"/>
          </a:xfrm>
          <a:prstGeom prst="rect">
            <a:avLst/>
          </a:prstGeom>
          <a:noFill/>
        </p:spPr>
        <p:txBody>
          <a:bodyPr wrap="square">
            <a:spAutoFit/>
          </a:bodyPr>
          <a:lstStyle/>
          <a:p>
            <a:pPr algn="ctr"/>
            <a:r>
              <a:rPr sz="1150" b="0" i="0">
                <a:solidFill>
                  <a:srgbClr val="E8F0FE"/>
                </a:solidFill>
                <a:latin typeface="Calibri"/>
              </a:rPr>
              <a:t>Validated tools need careful clinical interpretation.
Generic wellness apps usually do not provide validated depression-risk screening.</a:t>
            </a:r>
          </a:p>
        </p:txBody>
      </p:sp>
      <p:sp>
        <p:nvSpPr>
          <p:cNvPr id="20" name="Rectangle 19"/>
          <p:cNvSpPr/>
          <p:nvPr/>
        </p:nvSpPr>
        <p:spPr>
          <a:xfrm>
            <a:off x="365760" y="4800600"/>
            <a:ext cx="11475720" cy="749808"/>
          </a:xfrm>
          <a:prstGeom prst="rect">
            <a:avLst/>
          </a:prstGeom>
          <a:solidFill>
            <a:srgbClr val="061422"/>
          </a:solidFill>
          <a:ln w="1524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4901184"/>
            <a:ext cx="11155680" cy="274320"/>
          </a:xfrm>
          <a:prstGeom prst="rect">
            <a:avLst/>
          </a:prstGeom>
          <a:noFill/>
        </p:spPr>
        <p:txBody>
          <a:bodyPr wrap="square">
            <a:spAutoFit/>
          </a:bodyPr>
          <a:lstStyle/>
          <a:p>
            <a:pPr algn="l"/>
            <a:r>
              <a:rPr sz="1300" b="1" i="0">
                <a:solidFill>
                  <a:srgbClr val="E8F0FE"/>
                </a:solidFill>
                <a:latin typeface="Calibri"/>
              </a:rPr>
              <a:t>University students often avoid formal counselling due to stigma, time constraints, and lack of early screening.</a:t>
            </a:r>
          </a:p>
        </p:txBody>
      </p:sp>
      <p:sp>
        <p:nvSpPr>
          <p:cNvPr id="22" name="TextBox 21"/>
          <p:cNvSpPr txBox="1"/>
          <p:nvPr/>
        </p:nvSpPr>
        <p:spPr>
          <a:xfrm>
            <a:off x="548640" y="5212080"/>
            <a:ext cx="11155680" cy="256032"/>
          </a:xfrm>
          <a:prstGeom prst="rect">
            <a:avLst/>
          </a:prstGeom>
          <a:noFill/>
        </p:spPr>
        <p:txBody>
          <a:bodyPr wrap="square">
            <a:spAutoFit/>
          </a:bodyPr>
          <a:lstStyle/>
          <a:p>
            <a:pPr algn="l"/>
            <a:r>
              <a:rPr sz="1200" b="0" i="1">
                <a:solidFill>
                  <a:srgbClr val="4FA3FF"/>
                </a:solidFill>
                <a:latin typeface="Calibri"/>
              </a:rPr>
              <a:t>MINDscan provides anonymous, instant, explainable risk screening — bridging this gap.</a:t>
            </a:r>
          </a:p>
        </p:txBody>
      </p:sp>
      <p:sp>
        <p:nvSpPr>
          <p:cNvPr id="23" name="Rectangle 22"/>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25" name="TextBox 24"/>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2 /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256032"/>
          </a:xfrm>
          <a:prstGeom prst="rect">
            <a:avLst/>
          </a:prstGeom>
          <a:noFill/>
        </p:spPr>
        <p:txBody>
          <a:bodyPr wrap="square">
            <a:spAutoFit/>
          </a:bodyPr>
          <a:lstStyle/>
          <a:p>
            <a:pPr algn="l"/>
            <a:r>
              <a:rPr sz="900" b="1" i="0">
                <a:solidFill>
                  <a:srgbClr val="4FA3FF"/>
                </a:solidFill>
                <a:latin typeface="Calibri"/>
              </a:rPr>
              <a:t>02 · IMPACT &amp; SIGNIFICANCE</a:t>
            </a:r>
          </a:p>
        </p:txBody>
      </p:sp>
      <p:sp>
        <p:nvSpPr>
          <p:cNvPr id="5" name="TextBox 4"/>
          <p:cNvSpPr txBox="1"/>
          <p:nvPr/>
        </p:nvSpPr>
        <p:spPr>
          <a:xfrm>
            <a:off x="411480" y="420624"/>
            <a:ext cx="11338560" cy="329184"/>
          </a:xfrm>
          <a:prstGeom prst="rect">
            <a:avLst/>
          </a:prstGeom>
          <a:noFill/>
        </p:spPr>
        <p:txBody>
          <a:bodyPr wrap="square">
            <a:spAutoFit/>
          </a:bodyPr>
          <a:lstStyle/>
          <a:p>
            <a:pPr algn="l"/>
            <a:r>
              <a:rPr sz="1100" b="1" i="0">
                <a:solidFill>
                  <a:srgbClr val="7A8AA0"/>
                </a:solidFill>
                <a:latin typeface="Calibri"/>
              </a:rPr>
              <a:t>Why This Project Matters</a:t>
            </a:r>
          </a:p>
        </p:txBody>
      </p:sp>
      <p:sp>
        <p:nvSpPr>
          <p:cNvPr id="6" name="TextBox 5"/>
          <p:cNvSpPr txBox="1"/>
          <p:nvPr/>
        </p:nvSpPr>
        <p:spPr>
          <a:xfrm>
            <a:off x="411480" y="713232"/>
            <a:ext cx="11338560" cy="658368"/>
          </a:xfrm>
          <a:prstGeom prst="rect">
            <a:avLst/>
          </a:prstGeom>
          <a:noFill/>
        </p:spPr>
        <p:txBody>
          <a:bodyPr wrap="square">
            <a:spAutoFit/>
          </a:bodyPr>
          <a:lstStyle/>
          <a:p>
            <a:pPr algn="l"/>
            <a:r>
              <a:rPr sz="3000" b="1" i="0">
                <a:solidFill>
                  <a:srgbClr val="E8F0FE"/>
                </a:solidFill>
                <a:latin typeface="Calibri"/>
              </a:rPr>
              <a:t>Five Reasons This Is Important</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481328"/>
            <a:ext cx="2240280" cy="4114800"/>
          </a:xfrm>
          <a:prstGeom prst="rect">
            <a:avLst/>
          </a:prstGeom>
          <a:solidFill>
            <a:srgbClr val="0E1623"/>
          </a:solidFill>
          <a:ln w="2540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481328"/>
            <a:ext cx="2240280" cy="50292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1481328"/>
            <a:ext cx="2240280" cy="502920"/>
          </a:xfrm>
          <a:prstGeom prst="rect">
            <a:avLst/>
          </a:prstGeom>
          <a:noFill/>
        </p:spPr>
        <p:txBody>
          <a:bodyPr wrap="square">
            <a:spAutoFit/>
          </a:bodyPr>
          <a:lstStyle/>
          <a:p>
            <a:pPr algn="ctr"/>
            <a:r>
              <a:rPr sz="2200" b="1" i="0">
                <a:solidFill>
                  <a:srgbClr val="0A121E"/>
                </a:solidFill>
                <a:latin typeface="Calibri"/>
              </a:rPr>
              <a:t>🕐</a:t>
            </a:r>
          </a:p>
        </p:txBody>
      </p:sp>
      <p:sp>
        <p:nvSpPr>
          <p:cNvPr id="11" name="TextBox 10"/>
          <p:cNvSpPr txBox="1"/>
          <p:nvPr/>
        </p:nvSpPr>
        <p:spPr>
          <a:xfrm>
            <a:off x="384048" y="2084831"/>
            <a:ext cx="2057400" cy="347472"/>
          </a:xfrm>
          <a:prstGeom prst="rect">
            <a:avLst/>
          </a:prstGeom>
          <a:noFill/>
        </p:spPr>
        <p:txBody>
          <a:bodyPr wrap="square">
            <a:spAutoFit/>
          </a:bodyPr>
          <a:lstStyle/>
          <a:p>
            <a:pPr algn="l"/>
            <a:r>
              <a:rPr sz="1300" b="1" i="0">
                <a:solidFill>
                  <a:srgbClr val="4FA3FF"/>
                </a:solidFill>
                <a:latin typeface="Calibri"/>
              </a:rPr>
              <a:t>Early Screening</a:t>
            </a:r>
          </a:p>
        </p:txBody>
      </p:sp>
      <p:sp>
        <p:nvSpPr>
          <p:cNvPr id="12" name="TextBox 11"/>
          <p:cNvSpPr txBox="1"/>
          <p:nvPr/>
        </p:nvSpPr>
        <p:spPr>
          <a:xfrm>
            <a:off x="384048" y="2505456"/>
            <a:ext cx="2057400" cy="822960"/>
          </a:xfrm>
          <a:prstGeom prst="rect">
            <a:avLst/>
          </a:prstGeom>
          <a:noFill/>
        </p:spPr>
        <p:txBody>
          <a:bodyPr wrap="square">
            <a:spAutoFit/>
          </a:bodyPr>
          <a:lstStyle/>
          <a:p>
            <a:pPr algn="l"/>
            <a:r>
              <a:rPr sz="1100" b="0" i="0">
                <a:solidFill>
                  <a:srgbClr val="E8F0FE"/>
                </a:solidFill>
                <a:latin typeface="Calibri"/>
              </a:rPr>
              <a:t>Detects risk before
it escalates to crisis</a:t>
            </a:r>
          </a:p>
        </p:txBody>
      </p:sp>
      <p:sp>
        <p:nvSpPr>
          <p:cNvPr id="13" name="Rectangle 12"/>
          <p:cNvSpPr/>
          <p:nvPr/>
        </p:nvSpPr>
        <p:spPr>
          <a:xfrm>
            <a:off x="2633472" y="1481328"/>
            <a:ext cx="2240280" cy="4114800"/>
          </a:xfrm>
          <a:prstGeom prst="rect">
            <a:avLst/>
          </a:prstGeom>
          <a:solidFill>
            <a:srgbClr val="0E1623"/>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633472" y="1481328"/>
            <a:ext cx="2240280" cy="5029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33472" y="1481328"/>
            <a:ext cx="2240280" cy="502920"/>
          </a:xfrm>
          <a:prstGeom prst="rect">
            <a:avLst/>
          </a:prstGeom>
          <a:noFill/>
        </p:spPr>
        <p:txBody>
          <a:bodyPr wrap="square">
            <a:spAutoFit/>
          </a:bodyPr>
          <a:lstStyle/>
          <a:p>
            <a:pPr algn="ctr"/>
            <a:r>
              <a:rPr sz="2200" b="1" i="0">
                <a:solidFill>
                  <a:srgbClr val="0A121E"/>
                </a:solidFill>
                <a:latin typeface="Calibri"/>
              </a:rPr>
              <a:t>🔒</a:t>
            </a:r>
          </a:p>
        </p:txBody>
      </p:sp>
      <p:sp>
        <p:nvSpPr>
          <p:cNvPr id="16" name="TextBox 15"/>
          <p:cNvSpPr txBox="1"/>
          <p:nvPr/>
        </p:nvSpPr>
        <p:spPr>
          <a:xfrm>
            <a:off x="2743200" y="2084831"/>
            <a:ext cx="2057400" cy="347472"/>
          </a:xfrm>
          <a:prstGeom prst="rect">
            <a:avLst/>
          </a:prstGeom>
          <a:noFill/>
        </p:spPr>
        <p:txBody>
          <a:bodyPr wrap="square">
            <a:spAutoFit/>
          </a:bodyPr>
          <a:lstStyle/>
          <a:p>
            <a:pPr algn="l"/>
            <a:r>
              <a:rPr sz="1300" b="1" i="0">
                <a:solidFill>
                  <a:srgbClr val="22C55E"/>
                </a:solidFill>
                <a:latin typeface="Calibri"/>
              </a:rPr>
              <a:t>Anonymous Access</a:t>
            </a:r>
          </a:p>
        </p:txBody>
      </p:sp>
      <p:sp>
        <p:nvSpPr>
          <p:cNvPr id="17" name="TextBox 16"/>
          <p:cNvSpPr txBox="1"/>
          <p:nvPr/>
        </p:nvSpPr>
        <p:spPr>
          <a:xfrm>
            <a:off x="2743200" y="2505456"/>
            <a:ext cx="2057400" cy="822960"/>
          </a:xfrm>
          <a:prstGeom prst="rect">
            <a:avLst/>
          </a:prstGeom>
          <a:noFill/>
        </p:spPr>
        <p:txBody>
          <a:bodyPr wrap="square">
            <a:spAutoFit/>
          </a:bodyPr>
          <a:lstStyle/>
          <a:p>
            <a:pPr algn="l"/>
            <a:r>
              <a:rPr sz="1100" b="0" i="0">
                <a:solidFill>
                  <a:srgbClr val="E8F0FE"/>
                </a:solidFill>
                <a:latin typeface="Calibri"/>
              </a:rPr>
              <a:t>No login, no personal profile stored.
Removes the stigma barrier</a:t>
            </a:r>
          </a:p>
        </p:txBody>
      </p:sp>
      <p:sp>
        <p:nvSpPr>
          <p:cNvPr id="18" name="Rectangle 17"/>
          <p:cNvSpPr/>
          <p:nvPr/>
        </p:nvSpPr>
        <p:spPr>
          <a:xfrm>
            <a:off x="4992624" y="1481328"/>
            <a:ext cx="2240280" cy="4114800"/>
          </a:xfrm>
          <a:prstGeom prst="rect">
            <a:avLst/>
          </a:prstGeom>
          <a:solidFill>
            <a:srgbClr val="0E1623"/>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992624" y="1481328"/>
            <a:ext cx="224028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92624" y="1481328"/>
            <a:ext cx="2240280" cy="502920"/>
          </a:xfrm>
          <a:prstGeom prst="rect">
            <a:avLst/>
          </a:prstGeom>
          <a:noFill/>
        </p:spPr>
        <p:txBody>
          <a:bodyPr wrap="square">
            <a:spAutoFit/>
          </a:bodyPr>
          <a:lstStyle/>
          <a:p>
            <a:pPr algn="ctr"/>
            <a:r>
              <a:rPr sz="2200" b="1" i="0">
                <a:solidFill>
                  <a:srgbClr val="0A121E"/>
                </a:solidFill>
                <a:latin typeface="Calibri"/>
              </a:rPr>
              <a:t>🔍</a:t>
            </a:r>
          </a:p>
        </p:txBody>
      </p:sp>
      <p:sp>
        <p:nvSpPr>
          <p:cNvPr id="21" name="TextBox 20"/>
          <p:cNvSpPr txBox="1"/>
          <p:nvPr/>
        </p:nvSpPr>
        <p:spPr>
          <a:xfrm>
            <a:off x="5102352" y="2084831"/>
            <a:ext cx="2057400" cy="347472"/>
          </a:xfrm>
          <a:prstGeom prst="rect">
            <a:avLst/>
          </a:prstGeom>
          <a:noFill/>
        </p:spPr>
        <p:txBody>
          <a:bodyPr wrap="square">
            <a:spAutoFit/>
          </a:bodyPr>
          <a:lstStyle/>
          <a:p>
            <a:pPr algn="l"/>
            <a:r>
              <a:rPr sz="1300" b="1" i="0">
                <a:solidFill>
                  <a:srgbClr val="A78BFA"/>
                </a:solidFill>
                <a:latin typeface="Calibri"/>
              </a:rPr>
              <a:t>Explainable AI</a:t>
            </a:r>
          </a:p>
        </p:txBody>
      </p:sp>
      <p:sp>
        <p:nvSpPr>
          <p:cNvPr id="22" name="TextBox 21"/>
          <p:cNvSpPr txBox="1"/>
          <p:nvPr/>
        </p:nvSpPr>
        <p:spPr>
          <a:xfrm>
            <a:off x="5102352" y="2505456"/>
            <a:ext cx="2057400" cy="822960"/>
          </a:xfrm>
          <a:prstGeom prst="rect">
            <a:avLst/>
          </a:prstGeom>
          <a:noFill/>
        </p:spPr>
        <p:txBody>
          <a:bodyPr wrap="square">
            <a:spAutoFit/>
          </a:bodyPr>
          <a:lstStyle/>
          <a:p>
            <a:pPr algn="l"/>
            <a:r>
              <a:rPr sz="1100" b="0" i="0">
                <a:solidFill>
                  <a:srgbClr val="E8F0FE"/>
                </a:solidFill>
                <a:latin typeface="Calibri"/>
              </a:rPr>
              <a:t>SHAP shows WHY the
risk is assigned — not a black box</a:t>
            </a:r>
          </a:p>
        </p:txBody>
      </p:sp>
      <p:sp>
        <p:nvSpPr>
          <p:cNvPr id="23" name="Rectangle 22"/>
          <p:cNvSpPr/>
          <p:nvPr/>
        </p:nvSpPr>
        <p:spPr>
          <a:xfrm>
            <a:off x="7351776" y="1481328"/>
            <a:ext cx="2240280" cy="4114800"/>
          </a:xfrm>
          <a:prstGeom prst="rect">
            <a:avLst/>
          </a:prstGeom>
          <a:solidFill>
            <a:srgbClr val="0E1623"/>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51776" y="1481328"/>
            <a:ext cx="224028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51776" y="1481328"/>
            <a:ext cx="2240280" cy="502920"/>
          </a:xfrm>
          <a:prstGeom prst="rect">
            <a:avLst/>
          </a:prstGeom>
          <a:noFill/>
        </p:spPr>
        <p:txBody>
          <a:bodyPr wrap="square">
            <a:spAutoFit/>
          </a:bodyPr>
          <a:lstStyle/>
          <a:p>
            <a:pPr algn="ctr"/>
            <a:r>
              <a:rPr sz="2200" b="1" i="0">
                <a:solidFill>
                  <a:srgbClr val="0A121E"/>
                </a:solidFill>
                <a:latin typeface="Calibri"/>
              </a:rPr>
              <a:t>🇮🇳</a:t>
            </a:r>
          </a:p>
        </p:txBody>
      </p:sp>
      <p:sp>
        <p:nvSpPr>
          <p:cNvPr id="26" name="TextBox 25"/>
          <p:cNvSpPr txBox="1"/>
          <p:nvPr/>
        </p:nvSpPr>
        <p:spPr>
          <a:xfrm>
            <a:off x="7461504" y="2084831"/>
            <a:ext cx="2057400" cy="347472"/>
          </a:xfrm>
          <a:prstGeom prst="rect">
            <a:avLst/>
          </a:prstGeom>
          <a:noFill/>
        </p:spPr>
        <p:txBody>
          <a:bodyPr wrap="square">
            <a:spAutoFit/>
          </a:bodyPr>
          <a:lstStyle/>
          <a:p>
            <a:pPr algn="l"/>
            <a:r>
              <a:rPr sz="1300" b="1" i="0">
                <a:solidFill>
                  <a:srgbClr val="F59E0B"/>
                </a:solidFill>
                <a:latin typeface="Calibri"/>
              </a:rPr>
              <a:t>India-Focused Dataset</a:t>
            </a:r>
          </a:p>
        </p:txBody>
      </p:sp>
      <p:sp>
        <p:nvSpPr>
          <p:cNvPr id="27" name="TextBox 26"/>
          <p:cNvSpPr txBox="1"/>
          <p:nvPr/>
        </p:nvSpPr>
        <p:spPr>
          <a:xfrm>
            <a:off x="7461504" y="2505456"/>
            <a:ext cx="2057400" cy="822960"/>
          </a:xfrm>
          <a:prstGeom prst="rect">
            <a:avLst/>
          </a:prstGeom>
          <a:noFill/>
        </p:spPr>
        <p:txBody>
          <a:bodyPr wrap="square">
            <a:spAutoFit/>
          </a:bodyPr>
          <a:lstStyle/>
          <a:p>
            <a:pPr algn="l"/>
            <a:r>
              <a:rPr sz="1100" b="0" i="0">
                <a:solidFill>
                  <a:srgbClr val="E8F0FE"/>
                </a:solidFill>
                <a:latin typeface="Calibri"/>
              </a:rPr>
              <a:t>1,151 real MUJ students
Not a foreign dataset</a:t>
            </a:r>
          </a:p>
        </p:txBody>
      </p:sp>
      <p:sp>
        <p:nvSpPr>
          <p:cNvPr id="28" name="Rectangle 27"/>
          <p:cNvSpPr/>
          <p:nvPr/>
        </p:nvSpPr>
        <p:spPr>
          <a:xfrm>
            <a:off x="9710928" y="1481328"/>
            <a:ext cx="2240280" cy="4114800"/>
          </a:xfrm>
          <a:prstGeom prst="rect">
            <a:avLst/>
          </a:prstGeom>
          <a:solidFill>
            <a:srgbClr val="0E1623"/>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710928" y="1481328"/>
            <a:ext cx="2240280"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10928" y="1481328"/>
            <a:ext cx="2240280" cy="502920"/>
          </a:xfrm>
          <a:prstGeom prst="rect">
            <a:avLst/>
          </a:prstGeom>
          <a:noFill/>
        </p:spPr>
        <p:txBody>
          <a:bodyPr wrap="square">
            <a:spAutoFit/>
          </a:bodyPr>
          <a:lstStyle/>
          <a:p>
            <a:pPr algn="ctr"/>
            <a:r>
              <a:rPr sz="2200" b="1" i="0">
                <a:solidFill>
                  <a:srgbClr val="0A121E"/>
                </a:solidFill>
                <a:latin typeface="Calibri"/>
              </a:rPr>
              <a:t>🌐</a:t>
            </a:r>
          </a:p>
        </p:txBody>
      </p:sp>
      <p:sp>
        <p:nvSpPr>
          <p:cNvPr id="31" name="TextBox 30"/>
          <p:cNvSpPr txBox="1"/>
          <p:nvPr/>
        </p:nvSpPr>
        <p:spPr>
          <a:xfrm>
            <a:off x="9820656" y="2084831"/>
            <a:ext cx="2057400" cy="347472"/>
          </a:xfrm>
          <a:prstGeom prst="rect">
            <a:avLst/>
          </a:prstGeom>
          <a:noFill/>
        </p:spPr>
        <p:txBody>
          <a:bodyPr wrap="square">
            <a:spAutoFit/>
          </a:bodyPr>
          <a:lstStyle/>
          <a:p>
            <a:pPr algn="l"/>
            <a:r>
              <a:rPr sz="1300" b="1" i="0">
                <a:solidFill>
                  <a:srgbClr val="EF4444"/>
                </a:solidFill>
                <a:latin typeface="Calibri"/>
              </a:rPr>
              <a:t>Publicly Deployed System</a:t>
            </a:r>
          </a:p>
        </p:txBody>
      </p:sp>
      <p:sp>
        <p:nvSpPr>
          <p:cNvPr id="32" name="TextBox 31"/>
          <p:cNvSpPr txBox="1"/>
          <p:nvPr/>
        </p:nvSpPr>
        <p:spPr>
          <a:xfrm>
            <a:off x="9820656" y="2505456"/>
            <a:ext cx="2057400" cy="822960"/>
          </a:xfrm>
          <a:prstGeom prst="rect">
            <a:avLst/>
          </a:prstGeom>
          <a:noFill/>
        </p:spPr>
        <p:txBody>
          <a:bodyPr wrap="square">
            <a:spAutoFit/>
          </a:bodyPr>
          <a:lstStyle/>
          <a:p>
            <a:pPr algn="l"/>
            <a:r>
              <a:rPr sz="1100" b="0" i="0">
                <a:solidFill>
                  <a:srgbClr val="E8F0FE"/>
                </a:solidFill>
                <a:latin typeface="Calibri"/>
              </a:rPr>
              <a:t>Not just a research paper
Anyone can use it right now</a:t>
            </a:r>
          </a:p>
        </p:txBody>
      </p:sp>
      <p:sp>
        <p:nvSpPr>
          <p:cNvPr id="33" name="Rectangle 32"/>
          <p:cNvSpPr/>
          <p:nvPr/>
        </p:nvSpPr>
        <p:spPr>
          <a:xfrm>
            <a:off x="274320" y="5760720"/>
            <a:ext cx="11612880" cy="530352"/>
          </a:xfrm>
          <a:prstGeom prst="rect">
            <a:avLst/>
          </a:prstGeom>
          <a:solidFill>
            <a:srgbClr val="081828"/>
          </a:solidFill>
          <a:ln w="1270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5833872"/>
            <a:ext cx="11247120" cy="402336"/>
          </a:xfrm>
          <a:prstGeom prst="rect">
            <a:avLst/>
          </a:prstGeom>
          <a:noFill/>
        </p:spPr>
        <p:txBody>
          <a:bodyPr wrap="square">
            <a:spAutoFit/>
          </a:bodyPr>
          <a:lstStyle/>
          <a:p>
            <a:pPr algn="l"/>
            <a:r>
              <a:rPr sz="1100" b="0" i="1">
                <a:solidFill>
                  <a:srgbClr val="E8F0FE"/>
                </a:solidFill>
                <a:latin typeface="Calibri"/>
              </a:rPr>
              <a:t>"The goal is not to replace mental health professionals — but to give every student a private, instant first step toward understanding their own wellbeing."</a:t>
            </a:r>
          </a:p>
        </p:txBody>
      </p:sp>
      <p:sp>
        <p:nvSpPr>
          <p:cNvPr id="35" name="Rectangle 34"/>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37" name="TextBox 36"/>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3 /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256032"/>
          </a:xfrm>
          <a:prstGeom prst="rect">
            <a:avLst/>
          </a:prstGeom>
          <a:noFill/>
        </p:spPr>
        <p:txBody>
          <a:bodyPr wrap="square">
            <a:spAutoFit/>
          </a:bodyPr>
          <a:lstStyle/>
          <a:p>
            <a:pPr algn="l"/>
            <a:r>
              <a:rPr sz="900" b="1" i="0">
                <a:solidFill>
                  <a:srgbClr val="4FA3FF"/>
                </a:solidFill>
                <a:latin typeface="Calibri"/>
              </a:rPr>
              <a:t>03 · DATA &amp; METHODOLOGY</a:t>
            </a:r>
          </a:p>
        </p:txBody>
      </p:sp>
      <p:sp>
        <p:nvSpPr>
          <p:cNvPr id="5" name="TextBox 4"/>
          <p:cNvSpPr txBox="1"/>
          <p:nvPr/>
        </p:nvSpPr>
        <p:spPr>
          <a:xfrm>
            <a:off x="411480" y="420624"/>
            <a:ext cx="11338560" cy="329184"/>
          </a:xfrm>
          <a:prstGeom prst="rect">
            <a:avLst/>
          </a:prstGeom>
          <a:noFill/>
        </p:spPr>
        <p:txBody>
          <a:bodyPr wrap="square">
            <a:spAutoFit/>
          </a:bodyPr>
          <a:lstStyle/>
          <a:p>
            <a:pPr algn="l"/>
            <a:r>
              <a:rPr sz="1100" b="1" i="0">
                <a:solidFill>
                  <a:srgbClr val="7A8AA0"/>
                </a:solidFill>
                <a:latin typeface="Calibri"/>
              </a:rPr>
              <a:t>Data Collection + Project Pipeline</a:t>
            </a:r>
          </a:p>
        </p:txBody>
      </p:sp>
      <p:sp>
        <p:nvSpPr>
          <p:cNvPr id="6" name="TextBox 5"/>
          <p:cNvSpPr txBox="1"/>
          <p:nvPr/>
        </p:nvSpPr>
        <p:spPr>
          <a:xfrm>
            <a:off x="411480" y="713232"/>
            <a:ext cx="11338560" cy="658368"/>
          </a:xfrm>
          <a:prstGeom prst="rect">
            <a:avLst/>
          </a:prstGeom>
          <a:noFill/>
        </p:spPr>
        <p:txBody>
          <a:bodyPr wrap="square">
            <a:spAutoFit/>
          </a:bodyPr>
          <a:lstStyle/>
          <a:p>
            <a:pPr algn="l"/>
            <a:r>
              <a:rPr sz="3000" b="1" i="0">
                <a:solidFill>
                  <a:srgbClr val="E8F0FE"/>
                </a:solidFill>
                <a:latin typeface="Calibri"/>
              </a:rPr>
              <a:t>1,151 Students · 22 Features · 8-Phase Build</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417320"/>
            <a:ext cx="5029200" cy="475488"/>
          </a:xfrm>
          <a:prstGeom prst="rect">
            <a:avLst/>
          </a:prstGeom>
          <a:solidFill>
            <a:srgbClr val="0E1623"/>
          </a:solidFill>
          <a:ln w="1524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1517904"/>
            <a:ext cx="2926080" cy="274320"/>
          </a:xfrm>
          <a:prstGeom prst="rect">
            <a:avLst/>
          </a:prstGeom>
          <a:noFill/>
        </p:spPr>
        <p:txBody>
          <a:bodyPr wrap="square">
            <a:spAutoFit/>
          </a:bodyPr>
          <a:lstStyle/>
          <a:p>
            <a:pPr algn="l"/>
            <a:r>
              <a:rPr sz="1100" b="0" i="0">
                <a:solidFill>
                  <a:srgbClr val="7A8AA0"/>
                </a:solidFill>
                <a:latin typeface="Calibri"/>
              </a:rPr>
              <a:t>Total Responses</a:t>
            </a:r>
          </a:p>
        </p:txBody>
      </p:sp>
      <p:sp>
        <p:nvSpPr>
          <p:cNvPr id="10" name="TextBox 9"/>
          <p:cNvSpPr txBox="1"/>
          <p:nvPr/>
        </p:nvSpPr>
        <p:spPr>
          <a:xfrm>
            <a:off x="3566160" y="1517904"/>
            <a:ext cx="1645920" cy="274320"/>
          </a:xfrm>
          <a:prstGeom prst="rect">
            <a:avLst/>
          </a:prstGeom>
          <a:noFill/>
        </p:spPr>
        <p:txBody>
          <a:bodyPr wrap="square">
            <a:spAutoFit/>
          </a:bodyPr>
          <a:lstStyle/>
          <a:p>
            <a:pPr algn="r"/>
            <a:r>
              <a:rPr sz="1100" b="1" i="0">
                <a:solidFill>
                  <a:srgbClr val="4FA3FF"/>
                </a:solidFill>
                <a:latin typeface="Calibri"/>
              </a:rPr>
              <a:t>1,151</a:t>
            </a:r>
          </a:p>
        </p:txBody>
      </p:sp>
      <p:sp>
        <p:nvSpPr>
          <p:cNvPr id="11" name="Rectangle 10"/>
          <p:cNvSpPr/>
          <p:nvPr/>
        </p:nvSpPr>
        <p:spPr>
          <a:xfrm>
            <a:off x="365760" y="2011680"/>
            <a:ext cx="5029200" cy="475488"/>
          </a:xfrm>
          <a:prstGeom prst="rect">
            <a:avLst/>
          </a:prstGeom>
          <a:solidFill>
            <a:srgbClr val="0E1623"/>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2112264"/>
            <a:ext cx="2926080" cy="274320"/>
          </a:xfrm>
          <a:prstGeom prst="rect">
            <a:avLst/>
          </a:prstGeom>
          <a:noFill/>
        </p:spPr>
        <p:txBody>
          <a:bodyPr wrap="square">
            <a:spAutoFit/>
          </a:bodyPr>
          <a:lstStyle/>
          <a:p>
            <a:pPr algn="l"/>
            <a:r>
              <a:rPr sz="1100" b="0" i="0">
                <a:solidFill>
                  <a:srgbClr val="7A8AA0"/>
                </a:solidFill>
                <a:latin typeface="Calibri"/>
              </a:rPr>
              <a:t>Features per Student</a:t>
            </a:r>
          </a:p>
        </p:txBody>
      </p:sp>
      <p:sp>
        <p:nvSpPr>
          <p:cNvPr id="13" name="TextBox 12"/>
          <p:cNvSpPr txBox="1"/>
          <p:nvPr/>
        </p:nvSpPr>
        <p:spPr>
          <a:xfrm>
            <a:off x="3566160" y="2112264"/>
            <a:ext cx="1645920" cy="274320"/>
          </a:xfrm>
          <a:prstGeom prst="rect">
            <a:avLst/>
          </a:prstGeom>
          <a:noFill/>
        </p:spPr>
        <p:txBody>
          <a:bodyPr wrap="square">
            <a:spAutoFit/>
          </a:bodyPr>
          <a:lstStyle/>
          <a:p>
            <a:pPr algn="r"/>
            <a:r>
              <a:rPr sz="1100" b="1" i="0">
                <a:solidFill>
                  <a:srgbClr val="A78BFA"/>
                </a:solidFill>
                <a:latin typeface="Calibri"/>
              </a:rPr>
              <a:t>22</a:t>
            </a:r>
          </a:p>
        </p:txBody>
      </p:sp>
      <p:sp>
        <p:nvSpPr>
          <p:cNvPr id="14" name="Rectangle 13"/>
          <p:cNvSpPr/>
          <p:nvPr/>
        </p:nvSpPr>
        <p:spPr>
          <a:xfrm>
            <a:off x="365760" y="2606040"/>
            <a:ext cx="5029200" cy="475488"/>
          </a:xfrm>
          <a:prstGeom prst="rect">
            <a:avLst/>
          </a:prstGeom>
          <a:solidFill>
            <a:srgbClr val="0E1623"/>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 y="2706624"/>
            <a:ext cx="2926080" cy="274320"/>
          </a:xfrm>
          <a:prstGeom prst="rect">
            <a:avLst/>
          </a:prstGeom>
          <a:noFill/>
        </p:spPr>
        <p:txBody>
          <a:bodyPr wrap="square">
            <a:spAutoFit/>
          </a:bodyPr>
          <a:lstStyle/>
          <a:p>
            <a:pPr algn="l"/>
            <a:r>
              <a:rPr sz="1100" b="0" i="0">
                <a:solidFill>
                  <a:srgbClr val="7A8AA0"/>
                </a:solidFill>
                <a:latin typeface="Calibri"/>
              </a:rPr>
              <a:t>Low Risk (PHQ 0–9)</a:t>
            </a:r>
          </a:p>
        </p:txBody>
      </p:sp>
      <p:sp>
        <p:nvSpPr>
          <p:cNvPr id="16" name="TextBox 15"/>
          <p:cNvSpPr txBox="1"/>
          <p:nvPr/>
        </p:nvSpPr>
        <p:spPr>
          <a:xfrm>
            <a:off x="3566160" y="2706624"/>
            <a:ext cx="1645920" cy="274320"/>
          </a:xfrm>
          <a:prstGeom prst="rect">
            <a:avLst/>
          </a:prstGeom>
          <a:noFill/>
        </p:spPr>
        <p:txBody>
          <a:bodyPr wrap="square">
            <a:spAutoFit/>
          </a:bodyPr>
          <a:lstStyle/>
          <a:p>
            <a:pPr algn="r"/>
            <a:r>
              <a:rPr sz="1100" b="1" i="0">
                <a:solidFill>
                  <a:srgbClr val="22C55E"/>
                </a:solidFill>
                <a:latin typeface="Calibri"/>
              </a:rPr>
              <a:t>58%</a:t>
            </a:r>
          </a:p>
        </p:txBody>
      </p:sp>
      <p:sp>
        <p:nvSpPr>
          <p:cNvPr id="17" name="Rectangle 16"/>
          <p:cNvSpPr/>
          <p:nvPr/>
        </p:nvSpPr>
        <p:spPr>
          <a:xfrm>
            <a:off x="365760" y="3200400"/>
            <a:ext cx="5029200" cy="475488"/>
          </a:xfrm>
          <a:prstGeom prst="rect">
            <a:avLst/>
          </a:prstGeom>
          <a:solidFill>
            <a:srgbClr val="0E1623"/>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 y="3300984"/>
            <a:ext cx="2926080" cy="274320"/>
          </a:xfrm>
          <a:prstGeom prst="rect">
            <a:avLst/>
          </a:prstGeom>
          <a:noFill/>
        </p:spPr>
        <p:txBody>
          <a:bodyPr wrap="square">
            <a:spAutoFit/>
          </a:bodyPr>
          <a:lstStyle/>
          <a:p>
            <a:pPr algn="l"/>
            <a:r>
              <a:rPr sz="1100" b="0" i="0">
                <a:solidFill>
                  <a:srgbClr val="7A8AA0"/>
                </a:solidFill>
                <a:latin typeface="Calibri"/>
              </a:rPr>
              <a:t>Moderate (PHQ 10–19)</a:t>
            </a:r>
          </a:p>
        </p:txBody>
      </p:sp>
      <p:sp>
        <p:nvSpPr>
          <p:cNvPr id="19" name="TextBox 18"/>
          <p:cNvSpPr txBox="1"/>
          <p:nvPr/>
        </p:nvSpPr>
        <p:spPr>
          <a:xfrm>
            <a:off x="3566160" y="3300984"/>
            <a:ext cx="1645920" cy="274320"/>
          </a:xfrm>
          <a:prstGeom prst="rect">
            <a:avLst/>
          </a:prstGeom>
          <a:noFill/>
        </p:spPr>
        <p:txBody>
          <a:bodyPr wrap="square">
            <a:spAutoFit/>
          </a:bodyPr>
          <a:lstStyle/>
          <a:p>
            <a:pPr algn="r"/>
            <a:r>
              <a:rPr sz="1100" b="1" i="0">
                <a:solidFill>
                  <a:srgbClr val="F59E0B"/>
                </a:solidFill>
                <a:latin typeface="Calibri"/>
              </a:rPr>
              <a:t>29%</a:t>
            </a:r>
          </a:p>
        </p:txBody>
      </p:sp>
      <p:sp>
        <p:nvSpPr>
          <p:cNvPr id="20" name="Rectangle 19"/>
          <p:cNvSpPr/>
          <p:nvPr/>
        </p:nvSpPr>
        <p:spPr>
          <a:xfrm>
            <a:off x="365760" y="3794760"/>
            <a:ext cx="5029200" cy="475488"/>
          </a:xfrm>
          <a:prstGeom prst="rect">
            <a:avLst/>
          </a:prstGeom>
          <a:solidFill>
            <a:srgbClr val="0E1623"/>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895344"/>
            <a:ext cx="2926080" cy="274320"/>
          </a:xfrm>
          <a:prstGeom prst="rect">
            <a:avLst/>
          </a:prstGeom>
          <a:noFill/>
        </p:spPr>
        <p:txBody>
          <a:bodyPr wrap="square">
            <a:spAutoFit/>
          </a:bodyPr>
          <a:lstStyle/>
          <a:p>
            <a:pPr algn="l"/>
            <a:r>
              <a:rPr sz="1100" b="0" i="0">
                <a:solidFill>
                  <a:srgbClr val="7A8AA0"/>
                </a:solidFill>
                <a:latin typeface="Calibri"/>
              </a:rPr>
              <a:t>High Risk (PHQ 20+)</a:t>
            </a:r>
          </a:p>
        </p:txBody>
      </p:sp>
      <p:sp>
        <p:nvSpPr>
          <p:cNvPr id="22" name="TextBox 21"/>
          <p:cNvSpPr txBox="1"/>
          <p:nvPr/>
        </p:nvSpPr>
        <p:spPr>
          <a:xfrm>
            <a:off x="3566160" y="3895344"/>
            <a:ext cx="1645920" cy="274320"/>
          </a:xfrm>
          <a:prstGeom prst="rect">
            <a:avLst/>
          </a:prstGeom>
          <a:noFill/>
        </p:spPr>
        <p:txBody>
          <a:bodyPr wrap="square">
            <a:spAutoFit/>
          </a:bodyPr>
          <a:lstStyle/>
          <a:p>
            <a:pPr algn="r"/>
            <a:r>
              <a:rPr sz="1100" b="1" i="0">
                <a:solidFill>
                  <a:srgbClr val="EF4444"/>
                </a:solidFill>
                <a:latin typeface="Calibri"/>
              </a:rPr>
              <a:t>13%  ← imbalanced</a:t>
            </a:r>
          </a:p>
        </p:txBody>
      </p:sp>
      <p:sp>
        <p:nvSpPr>
          <p:cNvPr id="23" name="TextBox 22"/>
          <p:cNvSpPr txBox="1"/>
          <p:nvPr/>
        </p:nvSpPr>
        <p:spPr>
          <a:xfrm>
            <a:off x="365760" y="4480560"/>
            <a:ext cx="5029200" cy="347472"/>
          </a:xfrm>
          <a:prstGeom prst="rect">
            <a:avLst/>
          </a:prstGeom>
          <a:noFill/>
        </p:spPr>
        <p:txBody>
          <a:bodyPr wrap="square">
            <a:spAutoFit/>
          </a:bodyPr>
          <a:lstStyle/>
          <a:p>
            <a:pPr algn="l"/>
            <a:r>
              <a:rPr sz="1050" b="1" i="0">
                <a:solidFill>
                  <a:srgbClr val="EF4444"/>
                </a:solidFill>
                <a:latin typeface="Calibri"/>
              </a:rPr>
              <a:t>⚠️  PHQ-9 Total Score dropped before training — prevents data leakage</a:t>
            </a:r>
          </a:p>
        </p:txBody>
      </p:sp>
      <p:sp>
        <p:nvSpPr>
          <p:cNvPr id="24" name="Rectangle 23"/>
          <p:cNvSpPr/>
          <p:nvPr/>
        </p:nvSpPr>
        <p:spPr>
          <a:xfrm>
            <a:off x="5943600" y="1417320"/>
            <a:ext cx="777240" cy="384048"/>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43600" y="1481328"/>
            <a:ext cx="777240" cy="256032"/>
          </a:xfrm>
          <a:prstGeom prst="rect">
            <a:avLst/>
          </a:prstGeom>
          <a:noFill/>
        </p:spPr>
        <p:txBody>
          <a:bodyPr wrap="square">
            <a:spAutoFit/>
          </a:bodyPr>
          <a:lstStyle/>
          <a:p>
            <a:pPr algn="ctr"/>
            <a:r>
              <a:rPr sz="800" b="1" i="0">
                <a:solidFill>
                  <a:srgbClr val="0A121E"/>
                </a:solidFill>
                <a:latin typeface="Calibri"/>
              </a:rPr>
              <a:t>Phase 1</a:t>
            </a:r>
          </a:p>
        </p:txBody>
      </p:sp>
      <p:sp>
        <p:nvSpPr>
          <p:cNvPr id="26" name="TextBox 25"/>
          <p:cNvSpPr txBox="1"/>
          <p:nvPr/>
        </p:nvSpPr>
        <p:spPr>
          <a:xfrm>
            <a:off x="6812280" y="1481328"/>
            <a:ext cx="5074920" cy="256032"/>
          </a:xfrm>
          <a:prstGeom prst="rect">
            <a:avLst/>
          </a:prstGeom>
          <a:noFill/>
        </p:spPr>
        <p:txBody>
          <a:bodyPr wrap="square">
            <a:spAutoFit/>
          </a:bodyPr>
          <a:lstStyle/>
          <a:p>
            <a:pPr algn="l"/>
            <a:r>
              <a:rPr sz="1100" b="0" i="0">
                <a:solidFill>
                  <a:srgbClr val="E8F0FE"/>
                </a:solidFill>
                <a:latin typeface="Calibri"/>
              </a:rPr>
              <a:t>Literature Review — 16 research papers</a:t>
            </a:r>
          </a:p>
        </p:txBody>
      </p:sp>
      <p:sp>
        <p:nvSpPr>
          <p:cNvPr id="27" name="Rectangle 26"/>
          <p:cNvSpPr/>
          <p:nvPr/>
        </p:nvSpPr>
        <p:spPr>
          <a:xfrm>
            <a:off x="6309360" y="1801368"/>
            <a:ext cx="25400" cy="91440"/>
          </a:xfrm>
          <a:prstGeom prst="rect">
            <a:avLst/>
          </a:prstGeom>
          <a:solidFill>
            <a:srgbClr val="7A8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943600" y="1965960"/>
            <a:ext cx="777240" cy="384048"/>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0" y="2029968"/>
            <a:ext cx="777240" cy="256032"/>
          </a:xfrm>
          <a:prstGeom prst="rect">
            <a:avLst/>
          </a:prstGeom>
          <a:noFill/>
        </p:spPr>
        <p:txBody>
          <a:bodyPr wrap="square">
            <a:spAutoFit/>
          </a:bodyPr>
          <a:lstStyle/>
          <a:p>
            <a:pPr algn="ctr"/>
            <a:r>
              <a:rPr sz="800" b="1" i="0">
                <a:solidFill>
                  <a:srgbClr val="0A121E"/>
                </a:solidFill>
                <a:latin typeface="Calibri"/>
              </a:rPr>
              <a:t>Phase 2</a:t>
            </a:r>
          </a:p>
        </p:txBody>
      </p:sp>
      <p:sp>
        <p:nvSpPr>
          <p:cNvPr id="30" name="TextBox 29"/>
          <p:cNvSpPr txBox="1"/>
          <p:nvPr/>
        </p:nvSpPr>
        <p:spPr>
          <a:xfrm>
            <a:off x="6812280" y="2029968"/>
            <a:ext cx="5074920" cy="256032"/>
          </a:xfrm>
          <a:prstGeom prst="rect">
            <a:avLst/>
          </a:prstGeom>
          <a:noFill/>
        </p:spPr>
        <p:txBody>
          <a:bodyPr wrap="square">
            <a:spAutoFit/>
          </a:bodyPr>
          <a:lstStyle/>
          <a:p>
            <a:pPr algn="l"/>
            <a:r>
              <a:rPr sz="1100" b="0" i="0">
                <a:solidFill>
                  <a:srgbClr val="E8F0FE"/>
                </a:solidFill>
                <a:latin typeface="Calibri"/>
              </a:rPr>
              <a:t>Primary Data Collection — Google Forms</a:t>
            </a:r>
          </a:p>
        </p:txBody>
      </p:sp>
      <p:sp>
        <p:nvSpPr>
          <p:cNvPr id="31" name="Rectangle 30"/>
          <p:cNvSpPr/>
          <p:nvPr/>
        </p:nvSpPr>
        <p:spPr>
          <a:xfrm>
            <a:off x="6309360" y="2350008"/>
            <a:ext cx="25400" cy="91440"/>
          </a:xfrm>
          <a:prstGeom prst="rect">
            <a:avLst/>
          </a:prstGeom>
          <a:solidFill>
            <a:srgbClr val="7A8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943600" y="2514600"/>
            <a:ext cx="777240" cy="384048"/>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600" y="2578608"/>
            <a:ext cx="777240" cy="256032"/>
          </a:xfrm>
          <a:prstGeom prst="rect">
            <a:avLst/>
          </a:prstGeom>
          <a:noFill/>
        </p:spPr>
        <p:txBody>
          <a:bodyPr wrap="square">
            <a:spAutoFit/>
          </a:bodyPr>
          <a:lstStyle/>
          <a:p>
            <a:pPr algn="ctr"/>
            <a:r>
              <a:rPr sz="800" b="1" i="0">
                <a:solidFill>
                  <a:srgbClr val="0A121E"/>
                </a:solidFill>
                <a:latin typeface="Calibri"/>
              </a:rPr>
              <a:t>Phase 3</a:t>
            </a:r>
          </a:p>
        </p:txBody>
      </p:sp>
      <p:sp>
        <p:nvSpPr>
          <p:cNvPr id="34" name="TextBox 33"/>
          <p:cNvSpPr txBox="1"/>
          <p:nvPr/>
        </p:nvSpPr>
        <p:spPr>
          <a:xfrm>
            <a:off x="6812280" y="2578608"/>
            <a:ext cx="5074920" cy="256032"/>
          </a:xfrm>
          <a:prstGeom prst="rect">
            <a:avLst/>
          </a:prstGeom>
          <a:noFill/>
        </p:spPr>
        <p:txBody>
          <a:bodyPr wrap="square">
            <a:spAutoFit/>
          </a:bodyPr>
          <a:lstStyle/>
          <a:p>
            <a:pPr algn="l"/>
            <a:r>
              <a:rPr sz="1100" b="0" i="0">
                <a:solidFill>
                  <a:srgbClr val="E8F0FE"/>
                </a:solidFill>
                <a:latin typeface="Calibri"/>
              </a:rPr>
              <a:t>EDA — 10 visualizations generated</a:t>
            </a:r>
          </a:p>
        </p:txBody>
      </p:sp>
      <p:sp>
        <p:nvSpPr>
          <p:cNvPr id="35" name="Rectangle 34"/>
          <p:cNvSpPr/>
          <p:nvPr/>
        </p:nvSpPr>
        <p:spPr>
          <a:xfrm>
            <a:off x="6309360" y="2898648"/>
            <a:ext cx="25400" cy="91440"/>
          </a:xfrm>
          <a:prstGeom prst="rect">
            <a:avLst/>
          </a:prstGeom>
          <a:solidFill>
            <a:srgbClr val="7A8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943600" y="3063240"/>
            <a:ext cx="777240" cy="384048"/>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43600" y="3127248"/>
            <a:ext cx="777240" cy="256032"/>
          </a:xfrm>
          <a:prstGeom prst="rect">
            <a:avLst/>
          </a:prstGeom>
          <a:noFill/>
        </p:spPr>
        <p:txBody>
          <a:bodyPr wrap="square">
            <a:spAutoFit/>
          </a:bodyPr>
          <a:lstStyle/>
          <a:p>
            <a:pPr algn="ctr"/>
            <a:r>
              <a:rPr sz="800" b="1" i="0">
                <a:solidFill>
                  <a:srgbClr val="0A121E"/>
                </a:solidFill>
                <a:latin typeface="Calibri"/>
              </a:rPr>
              <a:t>Phase 4</a:t>
            </a:r>
          </a:p>
        </p:txBody>
      </p:sp>
      <p:sp>
        <p:nvSpPr>
          <p:cNvPr id="38" name="TextBox 37"/>
          <p:cNvSpPr txBox="1"/>
          <p:nvPr/>
        </p:nvSpPr>
        <p:spPr>
          <a:xfrm>
            <a:off x="6812280" y="3127248"/>
            <a:ext cx="5074920" cy="256032"/>
          </a:xfrm>
          <a:prstGeom prst="rect">
            <a:avLst/>
          </a:prstGeom>
          <a:noFill/>
        </p:spPr>
        <p:txBody>
          <a:bodyPr wrap="square">
            <a:spAutoFit/>
          </a:bodyPr>
          <a:lstStyle/>
          <a:p>
            <a:pPr algn="l"/>
            <a:r>
              <a:rPr sz="1100" b="0" i="0">
                <a:solidFill>
                  <a:srgbClr val="E8F0FE"/>
                </a:solidFill>
                <a:latin typeface="Calibri"/>
              </a:rPr>
              <a:t>Model Training — 4 algorithms compared</a:t>
            </a:r>
          </a:p>
        </p:txBody>
      </p:sp>
      <p:sp>
        <p:nvSpPr>
          <p:cNvPr id="39" name="Rectangle 38"/>
          <p:cNvSpPr/>
          <p:nvPr/>
        </p:nvSpPr>
        <p:spPr>
          <a:xfrm>
            <a:off x="6309360" y="3447288"/>
            <a:ext cx="25400" cy="91440"/>
          </a:xfrm>
          <a:prstGeom prst="rect">
            <a:avLst/>
          </a:prstGeom>
          <a:solidFill>
            <a:srgbClr val="7A8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943600" y="3611880"/>
            <a:ext cx="777240" cy="38404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43600" y="3675888"/>
            <a:ext cx="777240" cy="256032"/>
          </a:xfrm>
          <a:prstGeom prst="rect">
            <a:avLst/>
          </a:prstGeom>
          <a:noFill/>
        </p:spPr>
        <p:txBody>
          <a:bodyPr wrap="square">
            <a:spAutoFit/>
          </a:bodyPr>
          <a:lstStyle/>
          <a:p>
            <a:pPr algn="ctr"/>
            <a:r>
              <a:rPr sz="800" b="1" i="0">
                <a:solidFill>
                  <a:srgbClr val="0A121E"/>
                </a:solidFill>
                <a:latin typeface="Calibri"/>
              </a:rPr>
              <a:t>Upgrade 1</a:t>
            </a:r>
          </a:p>
        </p:txBody>
      </p:sp>
      <p:sp>
        <p:nvSpPr>
          <p:cNvPr id="42" name="TextBox 41"/>
          <p:cNvSpPr txBox="1"/>
          <p:nvPr/>
        </p:nvSpPr>
        <p:spPr>
          <a:xfrm>
            <a:off x="6812280" y="3675888"/>
            <a:ext cx="5074920" cy="256032"/>
          </a:xfrm>
          <a:prstGeom prst="rect">
            <a:avLst/>
          </a:prstGeom>
          <a:noFill/>
        </p:spPr>
        <p:txBody>
          <a:bodyPr wrap="square">
            <a:spAutoFit/>
          </a:bodyPr>
          <a:lstStyle/>
          <a:p>
            <a:pPr algn="l"/>
            <a:r>
              <a:rPr sz="1100" b="0" i="0">
                <a:solidFill>
                  <a:srgbClr val="E8F0FE"/>
                </a:solidFill>
                <a:latin typeface="Calibri"/>
              </a:rPr>
              <a:t>SHAP Explainability — feature attribution</a:t>
            </a:r>
          </a:p>
        </p:txBody>
      </p:sp>
      <p:sp>
        <p:nvSpPr>
          <p:cNvPr id="43" name="Rectangle 42"/>
          <p:cNvSpPr/>
          <p:nvPr/>
        </p:nvSpPr>
        <p:spPr>
          <a:xfrm>
            <a:off x="6309360" y="3995928"/>
            <a:ext cx="25400" cy="91440"/>
          </a:xfrm>
          <a:prstGeom prst="rect">
            <a:avLst/>
          </a:prstGeom>
          <a:solidFill>
            <a:srgbClr val="7A8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943600" y="4160520"/>
            <a:ext cx="777240" cy="38404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943600" y="4224528"/>
            <a:ext cx="777240" cy="256032"/>
          </a:xfrm>
          <a:prstGeom prst="rect">
            <a:avLst/>
          </a:prstGeom>
          <a:noFill/>
        </p:spPr>
        <p:txBody>
          <a:bodyPr wrap="square">
            <a:spAutoFit/>
          </a:bodyPr>
          <a:lstStyle/>
          <a:p>
            <a:pPr algn="ctr"/>
            <a:r>
              <a:rPr sz="800" b="1" i="0">
                <a:solidFill>
                  <a:srgbClr val="0A121E"/>
                </a:solidFill>
                <a:latin typeface="Calibri"/>
              </a:rPr>
              <a:t>Upgrade 2</a:t>
            </a:r>
          </a:p>
        </p:txBody>
      </p:sp>
      <p:sp>
        <p:nvSpPr>
          <p:cNvPr id="46" name="TextBox 45"/>
          <p:cNvSpPr txBox="1"/>
          <p:nvPr/>
        </p:nvSpPr>
        <p:spPr>
          <a:xfrm>
            <a:off x="6812280" y="4224528"/>
            <a:ext cx="5074920" cy="256032"/>
          </a:xfrm>
          <a:prstGeom prst="rect">
            <a:avLst/>
          </a:prstGeom>
          <a:noFill/>
        </p:spPr>
        <p:txBody>
          <a:bodyPr wrap="square">
            <a:spAutoFit/>
          </a:bodyPr>
          <a:lstStyle/>
          <a:p>
            <a:pPr algn="l"/>
            <a:r>
              <a:rPr sz="1100" b="0" i="0">
                <a:solidFill>
                  <a:srgbClr val="E8F0FE"/>
                </a:solidFill>
                <a:latin typeface="Calibri"/>
              </a:rPr>
              <a:t>SMOTE — address class imbalance</a:t>
            </a:r>
          </a:p>
        </p:txBody>
      </p:sp>
      <p:sp>
        <p:nvSpPr>
          <p:cNvPr id="47" name="Rectangle 46"/>
          <p:cNvSpPr/>
          <p:nvPr/>
        </p:nvSpPr>
        <p:spPr>
          <a:xfrm>
            <a:off x="6309360" y="4544568"/>
            <a:ext cx="25400" cy="91440"/>
          </a:xfrm>
          <a:prstGeom prst="rect">
            <a:avLst/>
          </a:prstGeom>
          <a:solidFill>
            <a:srgbClr val="7A8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943600" y="4709160"/>
            <a:ext cx="777240" cy="38404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43600" y="4773168"/>
            <a:ext cx="777240" cy="256032"/>
          </a:xfrm>
          <a:prstGeom prst="rect">
            <a:avLst/>
          </a:prstGeom>
          <a:noFill/>
        </p:spPr>
        <p:txBody>
          <a:bodyPr wrap="square">
            <a:spAutoFit/>
          </a:bodyPr>
          <a:lstStyle/>
          <a:p>
            <a:pPr algn="ctr"/>
            <a:r>
              <a:rPr sz="800" b="1" i="0">
                <a:solidFill>
                  <a:srgbClr val="0A121E"/>
                </a:solidFill>
                <a:latin typeface="Calibri"/>
              </a:rPr>
              <a:t>Upgrade 3</a:t>
            </a:r>
          </a:p>
        </p:txBody>
      </p:sp>
      <p:sp>
        <p:nvSpPr>
          <p:cNvPr id="50" name="TextBox 49"/>
          <p:cNvSpPr txBox="1"/>
          <p:nvPr/>
        </p:nvSpPr>
        <p:spPr>
          <a:xfrm>
            <a:off x="6812280" y="4773168"/>
            <a:ext cx="5074920" cy="256032"/>
          </a:xfrm>
          <a:prstGeom prst="rect">
            <a:avLst/>
          </a:prstGeom>
          <a:noFill/>
        </p:spPr>
        <p:txBody>
          <a:bodyPr wrap="square">
            <a:spAutoFit/>
          </a:bodyPr>
          <a:lstStyle/>
          <a:p>
            <a:pPr algn="l"/>
            <a:r>
              <a:rPr sz="1100" b="0" i="0">
                <a:solidFill>
                  <a:srgbClr val="E8F0FE"/>
                </a:solidFill>
                <a:latin typeface="Calibri"/>
              </a:rPr>
              <a:t>Anxiety Estimation (GAD-7 inspired)</a:t>
            </a:r>
          </a:p>
        </p:txBody>
      </p:sp>
      <p:sp>
        <p:nvSpPr>
          <p:cNvPr id="51" name="Rectangle 50"/>
          <p:cNvSpPr/>
          <p:nvPr/>
        </p:nvSpPr>
        <p:spPr>
          <a:xfrm>
            <a:off x="6309360" y="5093208"/>
            <a:ext cx="25400" cy="91440"/>
          </a:xfrm>
          <a:prstGeom prst="rect">
            <a:avLst/>
          </a:prstGeom>
          <a:solidFill>
            <a:srgbClr val="7A8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943600" y="5257800"/>
            <a:ext cx="777240" cy="38404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43600" y="5321808"/>
            <a:ext cx="777240" cy="256032"/>
          </a:xfrm>
          <a:prstGeom prst="rect">
            <a:avLst/>
          </a:prstGeom>
          <a:noFill/>
        </p:spPr>
        <p:txBody>
          <a:bodyPr wrap="square">
            <a:spAutoFit/>
          </a:bodyPr>
          <a:lstStyle/>
          <a:p>
            <a:pPr algn="ctr"/>
            <a:r>
              <a:rPr sz="800" b="1" i="0">
                <a:solidFill>
                  <a:srgbClr val="0A121E"/>
                </a:solidFill>
                <a:latin typeface="Calibri"/>
              </a:rPr>
              <a:t>Phase 5–6</a:t>
            </a:r>
          </a:p>
        </p:txBody>
      </p:sp>
      <p:sp>
        <p:nvSpPr>
          <p:cNvPr id="54" name="TextBox 53"/>
          <p:cNvSpPr txBox="1"/>
          <p:nvPr/>
        </p:nvSpPr>
        <p:spPr>
          <a:xfrm>
            <a:off x="6812280" y="5321808"/>
            <a:ext cx="5074920" cy="256032"/>
          </a:xfrm>
          <a:prstGeom prst="rect">
            <a:avLst/>
          </a:prstGeom>
          <a:noFill/>
        </p:spPr>
        <p:txBody>
          <a:bodyPr wrap="square">
            <a:spAutoFit/>
          </a:bodyPr>
          <a:lstStyle/>
          <a:p>
            <a:pPr algn="l"/>
            <a:r>
              <a:rPr sz="1100" b="0" i="0">
                <a:solidFill>
                  <a:srgbClr val="E8F0FE"/>
                </a:solidFill>
                <a:latin typeface="Calibri"/>
              </a:rPr>
              <a:t>Flask App Build → Live Deployment</a:t>
            </a:r>
          </a:p>
        </p:txBody>
      </p:sp>
      <p:sp>
        <p:nvSpPr>
          <p:cNvPr id="55" name="Rectangle 54"/>
          <p:cNvSpPr/>
          <p:nvPr/>
        </p:nvSpPr>
        <p:spPr>
          <a:xfrm>
            <a:off x="6309360" y="5641848"/>
            <a:ext cx="25400" cy="91440"/>
          </a:xfrm>
          <a:prstGeom prst="rect">
            <a:avLst/>
          </a:prstGeom>
          <a:solidFill>
            <a:srgbClr val="7A8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58" name="TextBox 57"/>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4 /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256032"/>
          </a:xfrm>
          <a:prstGeom prst="rect">
            <a:avLst/>
          </a:prstGeom>
          <a:noFill/>
        </p:spPr>
        <p:txBody>
          <a:bodyPr wrap="square">
            <a:spAutoFit/>
          </a:bodyPr>
          <a:lstStyle/>
          <a:p>
            <a:pPr algn="l"/>
            <a:r>
              <a:rPr sz="900" b="1" i="0">
                <a:solidFill>
                  <a:srgbClr val="4FA3FF"/>
                </a:solidFill>
                <a:latin typeface="Calibri"/>
              </a:rPr>
              <a:t>04 · MODEL TRAINING &amp; RESULTS</a:t>
            </a:r>
          </a:p>
        </p:txBody>
      </p:sp>
      <p:sp>
        <p:nvSpPr>
          <p:cNvPr id="5" name="TextBox 4"/>
          <p:cNvSpPr txBox="1"/>
          <p:nvPr/>
        </p:nvSpPr>
        <p:spPr>
          <a:xfrm>
            <a:off x="411480" y="420624"/>
            <a:ext cx="11338560" cy="329184"/>
          </a:xfrm>
          <a:prstGeom prst="rect">
            <a:avLst/>
          </a:prstGeom>
          <a:noFill/>
        </p:spPr>
        <p:txBody>
          <a:bodyPr wrap="square">
            <a:spAutoFit/>
          </a:bodyPr>
          <a:lstStyle/>
          <a:p>
            <a:pPr algn="l"/>
            <a:r>
              <a:rPr sz="1100" b="1" i="0">
                <a:solidFill>
                  <a:srgbClr val="7A8AA0"/>
                </a:solidFill>
                <a:latin typeface="Calibri"/>
              </a:rPr>
              <a:t>4 Algorithms Compared</a:t>
            </a:r>
          </a:p>
        </p:txBody>
      </p:sp>
      <p:sp>
        <p:nvSpPr>
          <p:cNvPr id="6" name="TextBox 5"/>
          <p:cNvSpPr txBox="1"/>
          <p:nvPr/>
        </p:nvSpPr>
        <p:spPr>
          <a:xfrm>
            <a:off x="411480" y="713232"/>
            <a:ext cx="11338560" cy="658368"/>
          </a:xfrm>
          <a:prstGeom prst="rect">
            <a:avLst/>
          </a:prstGeom>
          <a:noFill/>
        </p:spPr>
        <p:txBody>
          <a:bodyPr wrap="square">
            <a:spAutoFit/>
          </a:bodyPr>
          <a:lstStyle/>
          <a:p>
            <a:pPr algn="l"/>
            <a:r>
              <a:rPr sz="3000" b="1" i="0">
                <a:solidFill>
                  <a:srgbClr val="E8F0FE"/>
                </a:solidFill>
                <a:latin typeface="Calibri"/>
              </a:rPr>
              <a:t>Logistic Regression Won — Here's Why</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444752"/>
            <a:ext cx="2926080" cy="384048"/>
          </a:xfrm>
          <a:prstGeom prst="rect">
            <a:avLst/>
          </a:prstGeom>
          <a:solidFill>
            <a:srgbClr val="0A1E38"/>
          </a:solidFill>
          <a:ln w="63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 y="1527048"/>
            <a:ext cx="2798064" cy="256032"/>
          </a:xfrm>
          <a:prstGeom prst="rect">
            <a:avLst/>
          </a:prstGeom>
          <a:noFill/>
        </p:spPr>
        <p:txBody>
          <a:bodyPr wrap="square">
            <a:spAutoFit/>
          </a:bodyPr>
          <a:lstStyle/>
          <a:p>
            <a:pPr algn="ctr"/>
            <a:r>
              <a:rPr sz="1100" b="1" i="0">
                <a:solidFill>
                  <a:srgbClr val="4FA3FF"/>
                </a:solidFill>
                <a:latin typeface="Calibri"/>
              </a:rPr>
              <a:t>Algorithm</a:t>
            </a:r>
          </a:p>
        </p:txBody>
      </p:sp>
      <p:sp>
        <p:nvSpPr>
          <p:cNvPr id="10" name="Rectangle 9"/>
          <p:cNvSpPr/>
          <p:nvPr/>
        </p:nvSpPr>
        <p:spPr>
          <a:xfrm>
            <a:off x="3291840" y="1444752"/>
            <a:ext cx="1417320" cy="384048"/>
          </a:xfrm>
          <a:prstGeom prst="rect">
            <a:avLst/>
          </a:prstGeom>
          <a:solidFill>
            <a:srgbClr val="0A1E38"/>
          </a:solidFill>
          <a:ln w="63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55848" y="1527048"/>
            <a:ext cx="1289304" cy="256032"/>
          </a:xfrm>
          <a:prstGeom prst="rect">
            <a:avLst/>
          </a:prstGeom>
          <a:noFill/>
        </p:spPr>
        <p:txBody>
          <a:bodyPr wrap="square">
            <a:spAutoFit/>
          </a:bodyPr>
          <a:lstStyle/>
          <a:p>
            <a:pPr algn="ctr"/>
            <a:r>
              <a:rPr sz="1100" b="1" i="0">
                <a:solidFill>
                  <a:srgbClr val="4FA3FF"/>
                </a:solidFill>
                <a:latin typeface="Calibri"/>
              </a:rPr>
              <a:t>CV Accuracy</a:t>
            </a:r>
          </a:p>
        </p:txBody>
      </p:sp>
      <p:sp>
        <p:nvSpPr>
          <p:cNvPr id="12" name="Rectangle 11"/>
          <p:cNvSpPr/>
          <p:nvPr/>
        </p:nvSpPr>
        <p:spPr>
          <a:xfrm>
            <a:off x="4709160" y="1444752"/>
            <a:ext cx="1417320" cy="384048"/>
          </a:xfrm>
          <a:prstGeom prst="rect">
            <a:avLst/>
          </a:prstGeom>
          <a:solidFill>
            <a:srgbClr val="0A1E38"/>
          </a:solidFill>
          <a:ln w="63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73168" y="1527048"/>
            <a:ext cx="1289304" cy="256032"/>
          </a:xfrm>
          <a:prstGeom prst="rect">
            <a:avLst/>
          </a:prstGeom>
          <a:noFill/>
        </p:spPr>
        <p:txBody>
          <a:bodyPr wrap="square">
            <a:spAutoFit/>
          </a:bodyPr>
          <a:lstStyle/>
          <a:p>
            <a:pPr algn="ctr"/>
            <a:r>
              <a:rPr sz="1100" b="1" i="0">
                <a:solidFill>
                  <a:srgbClr val="4FA3FF"/>
                </a:solidFill>
                <a:latin typeface="Calibri"/>
              </a:rPr>
              <a:t>Test Accuracy</a:t>
            </a:r>
          </a:p>
        </p:txBody>
      </p:sp>
      <p:sp>
        <p:nvSpPr>
          <p:cNvPr id="14" name="Rectangle 13"/>
          <p:cNvSpPr/>
          <p:nvPr/>
        </p:nvSpPr>
        <p:spPr>
          <a:xfrm>
            <a:off x="6126480" y="1444752"/>
            <a:ext cx="1234440" cy="384048"/>
          </a:xfrm>
          <a:prstGeom prst="rect">
            <a:avLst/>
          </a:prstGeom>
          <a:solidFill>
            <a:srgbClr val="0A1E38"/>
          </a:solidFill>
          <a:ln w="63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90488" y="1527048"/>
            <a:ext cx="1106424" cy="256032"/>
          </a:xfrm>
          <a:prstGeom prst="rect">
            <a:avLst/>
          </a:prstGeom>
          <a:noFill/>
        </p:spPr>
        <p:txBody>
          <a:bodyPr wrap="square">
            <a:spAutoFit/>
          </a:bodyPr>
          <a:lstStyle/>
          <a:p>
            <a:pPr algn="ctr"/>
            <a:r>
              <a:rPr sz="1100" b="1" i="0">
                <a:solidFill>
                  <a:srgbClr val="4FA3FF"/>
                </a:solidFill>
                <a:latin typeface="Calibri"/>
              </a:rPr>
              <a:t>F1-Score</a:t>
            </a:r>
          </a:p>
        </p:txBody>
      </p:sp>
      <p:sp>
        <p:nvSpPr>
          <p:cNvPr id="16" name="Rectangle 15"/>
          <p:cNvSpPr/>
          <p:nvPr/>
        </p:nvSpPr>
        <p:spPr>
          <a:xfrm>
            <a:off x="365760" y="1828800"/>
            <a:ext cx="2926080" cy="402336"/>
          </a:xfrm>
          <a:prstGeom prst="rect">
            <a:avLst/>
          </a:prstGeom>
          <a:solidFill>
            <a:srgbClr val="081C10"/>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768" y="1911096"/>
            <a:ext cx="2798064" cy="256032"/>
          </a:xfrm>
          <a:prstGeom prst="rect">
            <a:avLst/>
          </a:prstGeom>
          <a:noFill/>
        </p:spPr>
        <p:txBody>
          <a:bodyPr wrap="square">
            <a:spAutoFit/>
          </a:bodyPr>
          <a:lstStyle/>
          <a:p>
            <a:pPr algn="ctr"/>
            <a:r>
              <a:rPr sz="1100" b="1" i="0">
                <a:solidFill>
                  <a:srgbClr val="4FA3FF"/>
                </a:solidFill>
                <a:latin typeface="Calibri"/>
              </a:rPr>
              <a:t>⭐  Logistic Regression</a:t>
            </a:r>
          </a:p>
        </p:txBody>
      </p:sp>
      <p:sp>
        <p:nvSpPr>
          <p:cNvPr id="18" name="Rectangle 17"/>
          <p:cNvSpPr/>
          <p:nvPr/>
        </p:nvSpPr>
        <p:spPr>
          <a:xfrm>
            <a:off x="3291840" y="1828800"/>
            <a:ext cx="1417320" cy="402336"/>
          </a:xfrm>
          <a:prstGeom prst="rect">
            <a:avLst/>
          </a:prstGeom>
          <a:solidFill>
            <a:srgbClr val="081C10"/>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55848" y="1911096"/>
            <a:ext cx="1289304" cy="256032"/>
          </a:xfrm>
          <a:prstGeom prst="rect">
            <a:avLst/>
          </a:prstGeom>
          <a:noFill/>
        </p:spPr>
        <p:txBody>
          <a:bodyPr wrap="square">
            <a:spAutoFit/>
          </a:bodyPr>
          <a:lstStyle/>
          <a:p>
            <a:pPr algn="ctr"/>
            <a:r>
              <a:rPr sz="1100" b="1" i="0">
                <a:solidFill>
                  <a:srgbClr val="4FA3FF"/>
                </a:solidFill>
                <a:latin typeface="Calibri"/>
              </a:rPr>
              <a:t>95.98%</a:t>
            </a:r>
          </a:p>
        </p:txBody>
      </p:sp>
      <p:sp>
        <p:nvSpPr>
          <p:cNvPr id="20" name="Rectangle 19"/>
          <p:cNvSpPr/>
          <p:nvPr/>
        </p:nvSpPr>
        <p:spPr>
          <a:xfrm>
            <a:off x="4709160" y="1828800"/>
            <a:ext cx="1417320" cy="402336"/>
          </a:xfrm>
          <a:prstGeom prst="rect">
            <a:avLst/>
          </a:prstGeom>
          <a:solidFill>
            <a:srgbClr val="081C10"/>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73168" y="1911096"/>
            <a:ext cx="1289304" cy="256032"/>
          </a:xfrm>
          <a:prstGeom prst="rect">
            <a:avLst/>
          </a:prstGeom>
          <a:noFill/>
        </p:spPr>
        <p:txBody>
          <a:bodyPr wrap="square">
            <a:spAutoFit/>
          </a:bodyPr>
          <a:lstStyle/>
          <a:p>
            <a:pPr algn="ctr"/>
            <a:r>
              <a:rPr sz="1100" b="1" i="0">
                <a:solidFill>
                  <a:srgbClr val="4FA3FF"/>
                </a:solidFill>
                <a:latin typeface="Calibri"/>
              </a:rPr>
              <a:t>95.67%</a:t>
            </a:r>
          </a:p>
        </p:txBody>
      </p:sp>
      <p:sp>
        <p:nvSpPr>
          <p:cNvPr id="22" name="Rectangle 21"/>
          <p:cNvSpPr/>
          <p:nvPr/>
        </p:nvSpPr>
        <p:spPr>
          <a:xfrm>
            <a:off x="6126480" y="1828800"/>
            <a:ext cx="1234440" cy="402336"/>
          </a:xfrm>
          <a:prstGeom prst="rect">
            <a:avLst/>
          </a:prstGeom>
          <a:solidFill>
            <a:srgbClr val="081C10"/>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90488" y="1911096"/>
            <a:ext cx="1106424" cy="256032"/>
          </a:xfrm>
          <a:prstGeom prst="rect">
            <a:avLst/>
          </a:prstGeom>
          <a:noFill/>
        </p:spPr>
        <p:txBody>
          <a:bodyPr wrap="square">
            <a:spAutoFit/>
          </a:bodyPr>
          <a:lstStyle/>
          <a:p>
            <a:pPr algn="ctr"/>
            <a:r>
              <a:rPr sz="1100" b="1" i="0">
                <a:solidFill>
                  <a:srgbClr val="4FA3FF"/>
                </a:solidFill>
                <a:latin typeface="Calibri"/>
              </a:rPr>
              <a:t>95.65%</a:t>
            </a:r>
          </a:p>
        </p:txBody>
      </p:sp>
      <p:sp>
        <p:nvSpPr>
          <p:cNvPr id="24" name="Rectangle 23"/>
          <p:cNvSpPr/>
          <p:nvPr/>
        </p:nvSpPr>
        <p:spPr>
          <a:xfrm>
            <a:off x="365760" y="2231136"/>
            <a:ext cx="292608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9768" y="2313432"/>
            <a:ext cx="2798064" cy="256032"/>
          </a:xfrm>
          <a:prstGeom prst="rect">
            <a:avLst/>
          </a:prstGeom>
          <a:noFill/>
        </p:spPr>
        <p:txBody>
          <a:bodyPr wrap="square">
            <a:spAutoFit/>
          </a:bodyPr>
          <a:lstStyle/>
          <a:p>
            <a:pPr algn="ctr"/>
            <a:r>
              <a:rPr sz="1100" b="0" i="0">
                <a:solidFill>
                  <a:srgbClr val="E8F0FE"/>
                </a:solidFill>
                <a:latin typeface="Calibri"/>
              </a:rPr>
              <a:t>    SVM (RBF kernel)</a:t>
            </a:r>
          </a:p>
        </p:txBody>
      </p:sp>
      <p:sp>
        <p:nvSpPr>
          <p:cNvPr id="26" name="Rectangle 25"/>
          <p:cNvSpPr/>
          <p:nvPr/>
        </p:nvSpPr>
        <p:spPr>
          <a:xfrm>
            <a:off x="3291840" y="2231136"/>
            <a:ext cx="141732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55848" y="2313432"/>
            <a:ext cx="1289304" cy="256032"/>
          </a:xfrm>
          <a:prstGeom prst="rect">
            <a:avLst/>
          </a:prstGeom>
          <a:noFill/>
        </p:spPr>
        <p:txBody>
          <a:bodyPr wrap="square">
            <a:spAutoFit/>
          </a:bodyPr>
          <a:lstStyle/>
          <a:p>
            <a:pPr algn="ctr"/>
            <a:r>
              <a:rPr sz="1100" b="0" i="0">
                <a:solidFill>
                  <a:srgbClr val="E8F0FE"/>
                </a:solidFill>
                <a:latin typeface="Calibri"/>
              </a:rPr>
              <a:t>94.24%</a:t>
            </a:r>
          </a:p>
        </p:txBody>
      </p:sp>
      <p:sp>
        <p:nvSpPr>
          <p:cNvPr id="28" name="Rectangle 27"/>
          <p:cNvSpPr/>
          <p:nvPr/>
        </p:nvSpPr>
        <p:spPr>
          <a:xfrm>
            <a:off x="4709160" y="2231136"/>
            <a:ext cx="141732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73168" y="2313432"/>
            <a:ext cx="1289304" cy="256032"/>
          </a:xfrm>
          <a:prstGeom prst="rect">
            <a:avLst/>
          </a:prstGeom>
          <a:noFill/>
        </p:spPr>
        <p:txBody>
          <a:bodyPr wrap="square">
            <a:spAutoFit/>
          </a:bodyPr>
          <a:lstStyle/>
          <a:p>
            <a:pPr algn="ctr"/>
            <a:r>
              <a:rPr sz="1100" b="0" i="0">
                <a:solidFill>
                  <a:srgbClr val="E8F0FE"/>
                </a:solidFill>
                <a:latin typeface="Calibri"/>
              </a:rPr>
              <a:t>93.51%</a:t>
            </a:r>
          </a:p>
        </p:txBody>
      </p:sp>
      <p:sp>
        <p:nvSpPr>
          <p:cNvPr id="30" name="Rectangle 29"/>
          <p:cNvSpPr/>
          <p:nvPr/>
        </p:nvSpPr>
        <p:spPr>
          <a:xfrm>
            <a:off x="6126480" y="2231136"/>
            <a:ext cx="123444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90488" y="2313432"/>
            <a:ext cx="1106424" cy="256032"/>
          </a:xfrm>
          <a:prstGeom prst="rect">
            <a:avLst/>
          </a:prstGeom>
          <a:noFill/>
        </p:spPr>
        <p:txBody>
          <a:bodyPr wrap="square">
            <a:spAutoFit/>
          </a:bodyPr>
          <a:lstStyle/>
          <a:p>
            <a:pPr algn="ctr"/>
            <a:r>
              <a:rPr sz="1100" b="0" i="0">
                <a:solidFill>
                  <a:srgbClr val="E8F0FE"/>
                </a:solidFill>
                <a:latin typeface="Calibri"/>
              </a:rPr>
              <a:t>93.48%</a:t>
            </a:r>
          </a:p>
        </p:txBody>
      </p:sp>
      <p:sp>
        <p:nvSpPr>
          <p:cNvPr id="32" name="Rectangle 31"/>
          <p:cNvSpPr/>
          <p:nvPr/>
        </p:nvSpPr>
        <p:spPr>
          <a:xfrm>
            <a:off x="365760" y="2633472"/>
            <a:ext cx="292608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9768" y="2715768"/>
            <a:ext cx="2798064" cy="256032"/>
          </a:xfrm>
          <a:prstGeom prst="rect">
            <a:avLst/>
          </a:prstGeom>
          <a:noFill/>
        </p:spPr>
        <p:txBody>
          <a:bodyPr wrap="square">
            <a:spAutoFit/>
          </a:bodyPr>
          <a:lstStyle/>
          <a:p>
            <a:pPr algn="ctr"/>
            <a:r>
              <a:rPr sz="1100" b="0" i="0">
                <a:solidFill>
                  <a:srgbClr val="E8F0FE"/>
                </a:solidFill>
                <a:latin typeface="Calibri"/>
              </a:rPr>
              <a:t>    Random Forest</a:t>
            </a:r>
          </a:p>
        </p:txBody>
      </p:sp>
      <p:sp>
        <p:nvSpPr>
          <p:cNvPr id="34" name="Rectangle 33"/>
          <p:cNvSpPr/>
          <p:nvPr/>
        </p:nvSpPr>
        <p:spPr>
          <a:xfrm>
            <a:off x="3291840" y="2633472"/>
            <a:ext cx="141732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355848" y="2715768"/>
            <a:ext cx="1289304" cy="256032"/>
          </a:xfrm>
          <a:prstGeom prst="rect">
            <a:avLst/>
          </a:prstGeom>
          <a:noFill/>
        </p:spPr>
        <p:txBody>
          <a:bodyPr wrap="square">
            <a:spAutoFit/>
          </a:bodyPr>
          <a:lstStyle/>
          <a:p>
            <a:pPr algn="ctr"/>
            <a:r>
              <a:rPr sz="1100" b="0" i="0">
                <a:solidFill>
                  <a:srgbClr val="E8F0FE"/>
                </a:solidFill>
                <a:latin typeface="Calibri"/>
              </a:rPr>
              <a:t>92.39%</a:t>
            </a:r>
          </a:p>
        </p:txBody>
      </p:sp>
      <p:sp>
        <p:nvSpPr>
          <p:cNvPr id="36" name="Rectangle 35"/>
          <p:cNvSpPr/>
          <p:nvPr/>
        </p:nvSpPr>
        <p:spPr>
          <a:xfrm>
            <a:off x="4709160" y="2633472"/>
            <a:ext cx="141732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73168" y="2715768"/>
            <a:ext cx="1289304" cy="256032"/>
          </a:xfrm>
          <a:prstGeom prst="rect">
            <a:avLst/>
          </a:prstGeom>
          <a:noFill/>
        </p:spPr>
        <p:txBody>
          <a:bodyPr wrap="square">
            <a:spAutoFit/>
          </a:bodyPr>
          <a:lstStyle/>
          <a:p>
            <a:pPr algn="ctr"/>
            <a:r>
              <a:rPr sz="1100" b="0" i="0">
                <a:solidFill>
                  <a:srgbClr val="E8F0FE"/>
                </a:solidFill>
                <a:latin typeface="Calibri"/>
              </a:rPr>
              <a:t>89.18%</a:t>
            </a:r>
          </a:p>
        </p:txBody>
      </p:sp>
      <p:sp>
        <p:nvSpPr>
          <p:cNvPr id="38" name="Rectangle 37"/>
          <p:cNvSpPr/>
          <p:nvPr/>
        </p:nvSpPr>
        <p:spPr>
          <a:xfrm>
            <a:off x="6126480" y="2633472"/>
            <a:ext cx="123444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90488" y="2715768"/>
            <a:ext cx="1106424" cy="256032"/>
          </a:xfrm>
          <a:prstGeom prst="rect">
            <a:avLst/>
          </a:prstGeom>
          <a:noFill/>
        </p:spPr>
        <p:txBody>
          <a:bodyPr wrap="square">
            <a:spAutoFit/>
          </a:bodyPr>
          <a:lstStyle/>
          <a:p>
            <a:pPr algn="ctr"/>
            <a:r>
              <a:rPr sz="1100" b="0" i="0">
                <a:solidFill>
                  <a:srgbClr val="E8F0FE"/>
                </a:solidFill>
                <a:latin typeface="Calibri"/>
              </a:rPr>
              <a:t>89.15%</a:t>
            </a:r>
          </a:p>
        </p:txBody>
      </p:sp>
      <p:sp>
        <p:nvSpPr>
          <p:cNvPr id="40" name="Rectangle 39"/>
          <p:cNvSpPr/>
          <p:nvPr/>
        </p:nvSpPr>
        <p:spPr>
          <a:xfrm>
            <a:off x="365760" y="3035808"/>
            <a:ext cx="292608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29768" y="3118104"/>
            <a:ext cx="2798064" cy="256032"/>
          </a:xfrm>
          <a:prstGeom prst="rect">
            <a:avLst/>
          </a:prstGeom>
          <a:noFill/>
        </p:spPr>
        <p:txBody>
          <a:bodyPr wrap="square">
            <a:spAutoFit/>
          </a:bodyPr>
          <a:lstStyle/>
          <a:p>
            <a:pPr algn="ctr"/>
            <a:r>
              <a:rPr sz="1100" b="0" i="0">
                <a:solidFill>
                  <a:srgbClr val="E8F0FE"/>
                </a:solidFill>
                <a:latin typeface="Calibri"/>
              </a:rPr>
              <a:t>    Decision Tree</a:t>
            </a:r>
          </a:p>
        </p:txBody>
      </p:sp>
      <p:sp>
        <p:nvSpPr>
          <p:cNvPr id="42" name="Rectangle 41"/>
          <p:cNvSpPr/>
          <p:nvPr/>
        </p:nvSpPr>
        <p:spPr>
          <a:xfrm>
            <a:off x="3291840" y="3035808"/>
            <a:ext cx="141732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355848" y="3118104"/>
            <a:ext cx="1289304" cy="256032"/>
          </a:xfrm>
          <a:prstGeom prst="rect">
            <a:avLst/>
          </a:prstGeom>
          <a:noFill/>
        </p:spPr>
        <p:txBody>
          <a:bodyPr wrap="square">
            <a:spAutoFit/>
          </a:bodyPr>
          <a:lstStyle/>
          <a:p>
            <a:pPr algn="ctr"/>
            <a:r>
              <a:rPr sz="1100" b="0" i="0">
                <a:solidFill>
                  <a:srgbClr val="E8F0FE"/>
                </a:solidFill>
                <a:latin typeface="Calibri"/>
              </a:rPr>
              <a:t>80.54%</a:t>
            </a:r>
          </a:p>
        </p:txBody>
      </p:sp>
      <p:sp>
        <p:nvSpPr>
          <p:cNvPr id="44" name="Rectangle 43"/>
          <p:cNvSpPr/>
          <p:nvPr/>
        </p:nvSpPr>
        <p:spPr>
          <a:xfrm>
            <a:off x="4709160" y="3035808"/>
            <a:ext cx="141732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73168" y="3118104"/>
            <a:ext cx="1289304" cy="256032"/>
          </a:xfrm>
          <a:prstGeom prst="rect">
            <a:avLst/>
          </a:prstGeom>
          <a:noFill/>
        </p:spPr>
        <p:txBody>
          <a:bodyPr wrap="square">
            <a:spAutoFit/>
          </a:bodyPr>
          <a:lstStyle/>
          <a:p>
            <a:pPr algn="ctr"/>
            <a:r>
              <a:rPr sz="1100" b="0" i="0">
                <a:solidFill>
                  <a:srgbClr val="E8F0FE"/>
                </a:solidFill>
                <a:latin typeface="Calibri"/>
              </a:rPr>
              <a:t>83.55%</a:t>
            </a:r>
          </a:p>
        </p:txBody>
      </p:sp>
      <p:sp>
        <p:nvSpPr>
          <p:cNvPr id="46" name="Rectangle 45"/>
          <p:cNvSpPr/>
          <p:nvPr/>
        </p:nvSpPr>
        <p:spPr>
          <a:xfrm>
            <a:off x="6126480" y="3035808"/>
            <a:ext cx="1234440" cy="402336"/>
          </a:xfrm>
          <a:prstGeom prst="rect">
            <a:avLst/>
          </a:prstGeom>
          <a:solidFill>
            <a:srgbClr val="0E1623"/>
          </a:solidFill>
          <a:ln w="5080">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190488" y="3118104"/>
            <a:ext cx="1106424" cy="256032"/>
          </a:xfrm>
          <a:prstGeom prst="rect">
            <a:avLst/>
          </a:prstGeom>
          <a:noFill/>
        </p:spPr>
        <p:txBody>
          <a:bodyPr wrap="square">
            <a:spAutoFit/>
          </a:bodyPr>
          <a:lstStyle/>
          <a:p>
            <a:pPr algn="ctr"/>
            <a:r>
              <a:rPr sz="1100" b="0" i="0">
                <a:solidFill>
                  <a:srgbClr val="E8F0FE"/>
                </a:solidFill>
                <a:latin typeface="Calibri"/>
              </a:rPr>
              <a:t>83.48%</a:t>
            </a:r>
          </a:p>
        </p:txBody>
      </p:sp>
      <p:sp>
        <p:nvSpPr>
          <p:cNvPr id="48" name="TextBox 47"/>
          <p:cNvSpPr txBox="1"/>
          <p:nvPr/>
        </p:nvSpPr>
        <p:spPr>
          <a:xfrm>
            <a:off x="365760" y="3547872"/>
            <a:ext cx="6949440" cy="256032"/>
          </a:xfrm>
          <a:prstGeom prst="rect">
            <a:avLst/>
          </a:prstGeom>
          <a:noFill/>
        </p:spPr>
        <p:txBody>
          <a:bodyPr wrap="square">
            <a:spAutoFit/>
          </a:bodyPr>
          <a:lstStyle/>
          <a:p>
            <a:pPr algn="l"/>
            <a:r>
              <a:rPr sz="1100" b="1" i="0">
                <a:solidFill>
                  <a:srgbClr val="4FA3FF"/>
                </a:solidFill>
                <a:latin typeface="Calibri"/>
              </a:rPr>
              <a:t>Per-Class F1  —  Logistic Regression</a:t>
            </a:r>
          </a:p>
        </p:txBody>
      </p:sp>
      <p:sp>
        <p:nvSpPr>
          <p:cNvPr id="49" name="Rectangle 48"/>
          <p:cNvSpPr/>
          <p:nvPr/>
        </p:nvSpPr>
        <p:spPr>
          <a:xfrm>
            <a:off x="365760" y="3840480"/>
            <a:ext cx="2286000" cy="1234440"/>
          </a:xfrm>
          <a:prstGeom prst="rect">
            <a:avLst/>
          </a:prstGeom>
          <a:solidFill>
            <a:srgbClr val="0E1623"/>
          </a:solidFill>
          <a:ln w="2286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38912" y="3950208"/>
            <a:ext cx="2176272" cy="256032"/>
          </a:xfrm>
          <a:prstGeom prst="rect">
            <a:avLst/>
          </a:prstGeom>
          <a:noFill/>
        </p:spPr>
        <p:txBody>
          <a:bodyPr wrap="square">
            <a:spAutoFit/>
          </a:bodyPr>
          <a:lstStyle/>
          <a:p>
            <a:pPr algn="ctr"/>
            <a:r>
              <a:rPr sz="1100" b="1" i="0">
                <a:solidFill>
                  <a:srgbClr val="22C55E"/>
                </a:solidFill>
                <a:latin typeface="Calibri"/>
              </a:rPr>
              <a:t>🟢  Low Risk</a:t>
            </a:r>
          </a:p>
        </p:txBody>
      </p:sp>
      <p:sp>
        <p:nvSpPr>
          <p:cNvPr id="51" name="TextBox 50"/>
          <p:cNvSpPr txBox="1"/>
          <p:nvPr/>
        </p:nvSpPr>
        <p:spPr>
          <a:xfrm>
            <a:off x="438912" y="4224528"/>
            <a:ext cx="2176272" cy="566928"/>
          </a:xfrm>
          <a:prstGeom prst="rect">
            <a:avLst/>
          </a:prstGeom>
          <a:noFill/>
        </p:spPr>
        <p:txBody>
          <a:bodyPr wrap="square">
            <a:spAutoFit/>
          </a:bodyPr>
          <a:lstStyle/>
          <a:p>
            <a:pPr algn="ctr"/>
            <a:r>
              <a:rPr sz="3200" b="1" i="0">
                <a:solidFill>
                  <a:srgbClr val="22C55E"/>
                </a:solidFill>
                <a:latin typeface="Calibri"/>
              </a:rPr>
              <a:t>97%</a:t>
            </a:r>
          </a:p>
        </p:txBody>
      </p:sp>
      <p:sp>
        <p:nvSpPr>
          <p:cNvPr id="52" name="Rectangle 51"/>
          <p:cNvSpPr/>
          <p:nvPr/>
        </p:nvSpPr>
        <p:spPr>
          <a:xfrm>
            <a:off x="2788920" y="3840480"/>
            <a:ext cx="2286000" cy="1234440"/>
          </a:xfrm>
          <a:prstGeom prst="rect">
            <a:avLst/>
          </a:prstGeom>
          <a:solidFill>
            <a:srgbClr val="0E1623"/>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862072" y="3950208"/>
            <a:ext cx="2176272" cy="256032"/>
          </a:xfrm>
          <a:prstGeom prst="rect">
            <a:avLst/>
          </a:prstGeom>
          <a:noFill/>
        </p:spPr>
        <p:txBody>
          <a:bodyPr wrap="square">
            <a:spAutoFit/>
          </a:bodyPr>
          <a:lstStyle/>
          <a:p>
            <a:pPr algn="ctr"/>
            <a:r>
              <a:rPr sz="1100" b="1" i="0">
                <a:solidFill>
                  <a:srgbClr val="F59E0B"/>
                </a:solidFill>
                <a:latin typeface="Calibri"/>
              </a:rPr>
              <a:t>🟡  Moderate</a:t>
            </a:r>
          </a:p>
        </p:txBody>
      </p:sp>
      <p:sp>
        <p:nvSpPr>
          <p:cNvPr id="54" name="TextBox 53"/>
          <p:cNvSpPr txBox="1"/>
          <p:nvPr/>
        </p:nvSpPr>
        <p:spPr>
          <a:xfrm>
            <a:off x="2862072" y="4224528"/>
            <a:ext cx="2176272" cy="566928"/>
          </a:xfrm>
          <a:prstGeom prst="rect">
            <a:avLst/>
          </a:prstGeom>
          <a:noFill/>
        </p:spPr>
        <p:txBody>
          <a:bodyPr wrap="square">
            <a:spAutoFit/>
          </a:bodyPr>
          <a:lstStyle/>
          <a:p>
            <a:pPr algn="ctr"/>
            <a:r>
              <a:rPr sz="3200" b="1" i="0">
                <a:solidFill>
                  <a:srgbClr val="F59E0B"/>
                </a:solidFill>
                <a:latin typeface="Calibri"/>
              </a:rPr>
              <a:t>95%</a:t>
            </a:r>
          </a:p>
        </p:txBody>
      </p:sp>
      <p:sp>
        <p:nvSpPr>
          <p:cNvPr id="55" name="Rectangle 54"/>
          <p:cNvSpPr/>
          <p:nvPr/>
        </p:nvSpPr>
        <p:spPr>
          <a:xfrm>
            <a:off x="5212080" y="3840480"/>
            <a:ext cx="2286000" cy="1234440"/>
          </a:xfrm>
          <a:prstGeom prst="rect">
            <a:avLst/>
          </a:prstGeom>
          <a:solidFill>
            <a:srgbClr val="0E1623"/>
          </a:solidFill>
          <a:ln w="2286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285232" y="3950208"/>
            <a:ext cx="2176272" cy="256032"/>
          </a:xfrm>
          <a:prstGeom prst="rect">
            <a:avLst/>
          </a:prstGeom>
          <a:noFill/>
        </p:spPr>
        <p:txBody>
          <a:bodyPr wrap="square">
            <a:spAutoFit/>
          </a:bodyPr>
          <a:lstStyle/>
          <a:p>
            <a:pPr algn="ctr"/>
            <a:r>
              <a:rPr sz="1100" b="1" i="0">
                <a:solidFill>
                  <a:srgbClr val="EF4444"/>
                </a:solidFill>
                <a:latin typeface="Calibri"/>
              </a:rPr>
              <a:t>🔴  High Risk</a:t>
            </a:r>
          </a:p>
        </p:txBody>
      </p:sp>
      <p:sp>
        <p:nvSpPr>
          <p:cNvPr id="57" name="TextBox 56"/>
          <p:cNvSpPr txBox="1"/>
          <p:nvPr/>
        </p:nvSpPr>
        <p:spPr>
          <a:xfrm>
            <a:off x="5285232" y="4224528"/>
            <a:ext cx="2176272" cy="566928"/>
          </a:xfrm>
          <a:prstGeom prst="rect">
            <a:avLst/>
          </a:prstGeom>
          <a:noFill/>
        </p:spPr>
        <p:txBody>
          <a:bodyPr wrap="square">
            <a:spAutoFit/>
          </a:bodyPr>
          <a:lstStyle/>
          <a:p>
            <a:pPr algn="ctr"/>
            <a:r>
              <a:rPr sz="3200" b="1" i="0">
                <a:solidFill>
                  <a:srgbClr val="EF4444"/>
                </a:solidFill>
                <a:latin typeface="Calibri"/>
              </a:rPr>
              <a:t>91%</a:t>
            </a:r>
          </a:p>
        </p:txBody>
      </p:sp>
      <p:sp>
        <p:nvSpPr>
          <p:cNvPr id="58" name="Rectangle 57"/>
          <p:cNvSpPr/>
          <p:nvPr/>
        </p:nvSpPr>
        <p:spPr>
          <a:xfrm>
            <a:off x="365760" y="5193792"/>
            <a:ext cx="6949440" cy="640080"/>
          </a:xfrm>
          <a:prstGeom prst="rect">
            <a:avLst/>
          </a:prstGeom>
          <a:solidFill>
            <a:srgbClr val="061422"/>
          </a:solidFill>
          <a:ln w="1270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30352" y="5266944"/>
            <a:ext cx="6629400" cy="493776"/>
          </a:xfrm>
          <a:prstGeom prst="rect">
            <a:avLst/>
          </a:prstGeom>
          <a:noFill/>
        </p:spPr>
        <p:txBody>
          <a:bodyPr wrap="square">
            <a:spAutoFit/>
          </a:bodyPr>
          <a:lstStyle/>
          <a:p>
            <a:pPr algn="l"/>
            <a:r>
              <a:rPr sz="1100" b="0" i="0">
                <a:solidFill>
                  <a:srgbClr val="E8F0FE"/>
                </a:solidFill>
                <a:latin typeface="Calibri"/>
              </a:rPr>
              <a:t>Why LR?  Labels use LINEAR PHQ thresholds (0–9 / 10–19 / 20+). LR is the ideal algorithm for linear decision boundaries.</a:t>
            </a:r>
          </a:p>
        </p:txBody>
      </p:sp>
      <p:pic>
        <p:nvPicPr>
          <p:cNvPr id="60" name="Picture 59" descr="model_comparison.png"/>
          <p:cNvPicPr>
            <a:picLocks noChangeAspect="1"/>
          </p:cNvPicPr>
          <p:nvPr/>
        </p:nvPicPr>
        <p:blipFill>
          <a:blip r:embed="rId3"/>
          <a:stretch>
            <a:fillRect/>
          </a:stretch>
        </p:blipFill>
        <p:spPr>
          <a:xfrm>
            <a:off x="7680960" y="1444752"/>
            <a:ext cx="4206240" cy="2560320"/>
          </a:xfrm>
          <a:prstGeom prst="rect">
            <a:avLst/>
          </a:prstGeom>
        </p:spPr>
      </p:pic>
      <p:pic>
        <p:nvPicPr>
          <p:cNvPr id="61" name="Picture 60" descr="confusion_matrices.png"/>
          <p:cNvPicPr>
            <a:picLocks noChangeAspect="1"/>
          </p:cNvPicPr>
          <p:nvPr/>
        </p:nvPicPr>
        <p:blipFill>
          <a:blip r:embed="rId4"/>
          <a:stretch>
            <a:fillRect/>
          </a:stretch>
        </p:blipFill>
        <p:spPr>
          <a:xfrm>
            <a:off x="7680960" y="4114800"/>
            <a:ext cx="4206240" cy="1719072"/>
          </a:xfrm>
          <a:prstGeom prst="rect">
            <a:avLst/>
          </a:prstGeom>
        </p:spPr>
      </p:pic>
      <p:sp>
        <p:nvSpPr>
          <p:cNvPr id="62" name="Rectangle 61"/>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64" name="TextBox 63"/>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5 /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256032"/>
          </a:xfrm>
          <a:prstGeom prst="rect">
            <a:avLst/>
          </a:prstGeom>
          <a:noFill/>
        </p:spPr>
        <p:txBody>
          <a:bodyPr wrap="square">
            <a:spAutoFit/>
          </a:bodyPr>
          <a:lstStyle/>
          <a:p>
            <a:pPr algn="l"/>
            <a:r>
              <a:rPr sz="900" b="1" i="0">
                <a:solidFill>
                  <a:srgbClr val="4FA3FF"/>
                </a:solidFill>
                <a:latin typeface="Calibri"/>
              </a:rPr>
              <a:t>05 · EXPLAINABILITY</a:t>
            </a:r>
          </a:p>
        </p:txBody>
      </p:sp>
      <p:sp>
        <p:nvSpPr>
          <p:cNvPr id="5" name="TextBox 4"/>
          <p:cNvSpPr txBox="1"/>
          <p:nvPr/>
        </p:nvSpPr>
        <p:spPr>
          <a:xfrm>
            <a:off x="411480" y="420624"/>
            <a:ext cx="11338560" cy="329184"/>
          </a:xfrm>
          <a:prstGeom prst="rect">
            <a:avLst/>
          </a:prstGeom>
          <a:noFill/>
        </p:spPr>
        <p:txBody>
          <a:bodyPr wrap="square">
            <a:spAutoFit/>
          </a:bodyPr>
          <a:lstStyle/>
          <a:p>
            <a:pPr algn="l"/>
            <a:r>
              <a:rPr sz="1100" b="1" i="0">
                <a:solidFill>
                  <a:srgbClr val="7A8AA0"/>
                </a:solidFill>
                <a:latin typeface="Calibri"/>
              </a:rPr>
              <a:t>SHAP — Why the Model Decided What It Did</a:t>
            </a:r>
          </a:p>
        </p:txBody>
      </p:sp>
      <p:sp>
        <p:nvSpPr>
          <p:cNvPr id="6" name="TextBox 5"/>
          <p:cNvSpPr txBox="1"/>
          <p:nvPr/>
        </p:nvSpPr>
        <p:spPr>
          <a:xfrm>
            <a:off x="411480" y="713232"/>
            <a:ext cx="11338560" cy="658368"/>
          </a:xfrm>
          <a:prstGeom prst="rect">
            <a:avLst/>
          </a:prstGeom>
          <a:noFill/>
        </p:spPr>
        <p:txBody>
          <a:bodyPr wrap="square">
            <a:spAutoFit/>
          </a:bodyPr>
          <a:lstStyle/>
          <a:p>
            <a:pPr algn="l"/>
            <a:r>
              <a:rPr sz="3000" b="1" i="0">
                <a:solidFill>
                  <a:srgbClr val="E8F0FE"/>
                </a:solidFill>
                <a:latin typeface="Calibri"/>
              </a:rPr>
              <a:t>Explainable Decision Support</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hap_1_global_importance.png"/>
          <p:cNvPicPr>
            <a:picLocks noChangeAspect="1"/>
          </p:cNvPicPr>
          <p:nvPr/>
        </p:nvPicPr>
        <p:blipFill>
          <a:blip r:embed="rId3"/>
          <a:stretch>
            <a:fillRect/>
          </a:stretch>
        </p:blipFill>
        <p:spPr>
          <a:xfrm>
            <a:off x="365760" y="1417320"/>
            <a:ext cx="5486400" cy="2834640"/>
          </a:xfrm>
          <a:prstGeom prst="rect">
            <a:avLst/>
          </a:prstGeom>
        </p:spPr>
      </p:pic>
      <p:pic>
        <p:nvPicPr>
          <p:cNvPr id="9" name="Picture 8" descr="shap_3_per_class_bar.png"/>
          <p:cNvPicPr>
            <a:picLocks noChangeAspect="1"/>
          </p:cNvPicPr>
          <p:nvPr/>
        </p:nvPicPr>
        <p:blipFill>
          <a:blip r:embed="rId4"/>
          <a:stretch>
            <a:fillRect/>
          </a:stretch>
        </p:blipFill>
        <p:spPr>
          <a:xfrm>
            <a:off x="365760" y="4315968"/>
            <a:ext cx="5486400" cy="1920240"/>
          </a:xfrm>
          <a:prstGeom prst="rect">
            <a:avLst/>
          </a:prstGeom>
        </p:spPr>
      </p:pic>
      <p:sp>
        <p:nvSpPr>
          <p:cNvPr id="10" name="Rectangle 9"/>
          <p:cNvSpPr/>
          <p:nvPr/>
        </p:nvSpPr>
        <p:spPr>
          <a:xfrm>
            <a:off x="6217920" y="1417320"/>
            <a:ext cx="5577840" cy="1353312"/>
          </a:xfrm>
          <a:prstGeom prst="rect">
            <a:avLst/>
          </a:prstGeom>
          <a:solidFill>
            <a:srgbClr val="0E1623"/>
          </a:solidFill>
          <a:ln w="2286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1545336"/>
            <a:ext cx="5303520" cy="292608"/>
          </a:xfrm>
          <a:prstGeom prst="rect">
            <a:avLst/>
          </a:prstGeom>
          <a:noFill/>
        </p:spPr>
        <p:txBody>
          <a:bodyPr wrap="square">
            <a:spAutoFit/>
          </a:bodyPr>
          <a:lstStyle/>
          <a:p>
            <a:pPr algn="l"/>
            <a:r>
              <a:rPr sz="1300" b="1" i="0">
                <a:solidFill>
                  <a:srgbClr val="4FA3FF"/>
                </a:solidFill>
                <a:latin typeface="Calibri"/>
              </a:rPr>
              <a:t>What is SHAP?</a:t>
            </a:r>
          </a:p>
        </p:txBody>
      </p:sp>
      <p:sp>
        <p:nvSpPr>
          <p:cNvPr id="12" name="TextBox 11"/>
          <p:cNvSpPr txBox="1"/>
          <p:nvPr/>
        </p:nvSpPr>
        <p:spPr>
          <a:xfrm>
            <a:off x="6382512" y="1911096"/>
            <a:ext cx="5303520" cy="1097280"/>
          </a:xfrm>
          <a:prstGeom prst="rect">
            <a:avLst/>
          </a:prstGeom>
          <a:noFill/>
        </p:spPr>
        <p:txBody>
          <a:bodyPr wrap="square">
            <a:spAutoFit/>
          </a:bodyPr>
          <a:lstStyle/>
          <a:p>
            <a:pPr algn="l"/>
            <a:r>
              <a:rPr sz="1100" b="0" i="0">
                <a:solidFill>
                  <a:srgbClr val="E8F0FE"/>
                </a:solidFill>
                <a:latin typeface="Calibri"/>
              </a:rPr>
              <a:t>Assigns a score to each feature showing how much it pushed the prediction toward or away from each risk class.</a:t>
            </a:r>
          </a:p>
        </p:txBody>
      </p:sp>
      <p:sp>
        <p:nvSpPr>
          <p:cNvPr id="13" name="Rectangle 12"/>
          <p:cNvSpPr/>
          <p:nvPr/>
        </p:nvSpPr>
        <p:spPr>
          <a:xfrm>
            <a:off x="6217920" y="3072384"/>
            <a:ext cx="5577840" cy="1335024"/>
          </a:xfrm>
          <a:prstGeom prst="rect">
            <a:avLst/>
          </a:prstGeom>
          <a:solidFill>
            <a:srgbClr val="0E1623"/>
          </a:solidFill>
          <a:ln w="2286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3429000"/>
            <a:ext cx="5303520" cy="292608"/>
          </a:xfrm>
          <a:prstGeom prst="rect">
            <a:avLst/>
          </a:prstGeom>
          <a:noFill/>
        </p:spPr>
        <p:txBody>
          <a:bodyPr wrap="square">
            <a:spAutoFit/>
          </a:bodyPr>
          <a:lstStyle/>
          <a:p>
            <a:pPr algn="l"/>
            <a:r>
              <a:rPr sz="1300" b="1" i="0">
                <a:solidFill>
                  <a:srgbClr val="22C55E"/>
                </a:solidFill>
                <a:latin typeface="Calibri"/>
              </a:rPr>
              <a:t>Top Finding</a:t>
            </a:r>
          </a:p>
        </p:txBody>
      </p:sp>
      <p:sp>
        <p:nvSpPr>
          <p:cNvPr id="15" name="TextBox 14"/>
          <p:cNvSpPr txBox="1"/>
          <p:nvPr/>
        </p:nvSpPr>
        <p:spPr>
          <a:xfrm>
            <a:off x="6382512" y="3794760"/>
            <a:ext cx="5303520" cy="1097280"/>
          </a:xfrm>
          <a:prstGeom prst="rect">
            <a:avLst/>
          </a:prstGeom>
          <a:noFill/>
        </p:spPr>
        <p:txBody>
          <a:bodyPr wrap="square">
            <a:spAutoFit/>
          </a:bodyPr>
          <a:lstStyle/>
          <a:p>
            <a:pPr algn="l"/>
            <a:r>
              <a:rPr sz="1100" b="0" i="0">
                <a:solidFill>
                  <a:srgbClr val="E8F0FE"/>
                </a:solidFill>
                <a:latin typeface="Calibri"/>
              </a:rPr>
              <a:t>PHQ-3 (Sleep trouble) = most influential feature globally.
SHAP score: 0.5996</a:t>
            </a:r>
          </a:p>
        </p:txBody>
      </p:sp>
      <p:sp>
        <p:nvSpPr>
          <p:cNvPr id="16" name="Rectangle 15"/>
          <p:cNvSpPr/>
          <p:nvPr/>
        </p:nvSpPr>
        <p:spPr>
          <a:xfrm>
            <a:off x="6217920" y="4773168"/>
            <a:ext cx="5577840" cy="1463040"/>
          </a:xfrm>
          <a:prstGeom prst="rect">
            <a:avLst/>
          </a:prstGeom>
          <a:solidFill>
            <a:srgbClr val="0E1623"/>
          </a:solidFill>
          <a:ln w="2286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82512" y="5312664"/>
            <a:ext cx="5303520" cy="292608"/>
          </a:xfrm>
          <a:prstGeom prst="rect">
            <a:avLst/>
          </a:prstGeom>
          <a:noFill/>
        </p:spPr>
        <p:txBody>
          <a:bodyPr wrap="square">
            <a:spAutoFit/>
          </a:bodyPr>
          <a:lstStyle/>
          <a:p>
            <a:pPr algn="l"/>
            <a:r>
              <a:rPr sz="1300" b="1" i="0">
                <a:solidFill>
                  <a:srgbClr val="A78BFA"/>
                </a:solidFill>
                <a:latin typeface="Calibri"/>
              </a:rPr>
              <a:t>Why It Matters</a:t>
            </a:r>
          </a:p>
        </p:txBody>
      </p:sp>
      <p:sp>
        <p:nvSpPr>
          <p:cNvPr id="18" name="TextBox 17"/>
          <p:cNvSpPr txBox="1"/>
          <p:nvPr/>
        </p:nvSpPr>
        <p:spPr>
          <a:xfrm>
            <a:off x="6382512" y="5678424"/>
            <a:ext cx="5303520" cy="1097280"/>
          </a:xfrm>
          <a:prstGeom prst="rect">
            <a:avLst/>
          </a:prstGeom>
          <a:noFill/>
        </p:spPr>
        <p:txBody>
          <a:bodyPr wrap="square">
            <a:spAutoFit/>
          </a:bodyPr>
          <a:lstStyle/>
          <a:p>
            <a:pPr algn="l"/>
            <a:r>
              <a:rPr sz="1100" b="0" i="0">
                <a:solidFill>
                  <a:srgbClr val="E8F0FE"/>
                </a:solidFill>
                <a:latin typeface="Calibri"/>
              </a:rPr>
              <a:t>Students see WHICH specific symptoms are their biggest risk drivers — not just a label.
Builds trust in the AI decision.</a:t>
            </a:r>
          </a:p>
        </p:txBody>
      </p:sp>
      <p:sp>
        <p:nvSpPr>
          <p:cNvPr id="19" name="Rectangle 18"/>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21" name="TextBox 20"/>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6 /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256032"/>
          </a:xfrm>
          <a:prstGeom prst="rect">
            <a:avLst/>
          </a:prstGeom>
          <a:noFill/>
        </p:spPr>
        <p:txBody>
          <a:bodyPr wrap="square">
            <a:spAutoFit/>
          </a:bodyPr>
          <a:lstStyle/>
          <a:p>
            <a:pPr algn="l"/>
            <a:r>
              <a:rPr sz="900" b="1" i="0">
                <a:solidFill>
                  <a:srgbClr val="4FA3FF"/>
                </a:solidFill>
                <a:latin typeface="Calibri"/>
              </a:rPr>
              <a:t>06 · CLASS BALANCING + ANXIETY ESTIMATION</a:t>
            </a:r>
          </a:p>
        </p:txBody>
      </p:sp>
      <p:sp>
        <p:nvSpPr>
          <p:cNvPr id="5" name="TextBox 4"/>
          <p:cNvSpPr txBox="1"/>
          <p:nvPr/>
        </p:nvSpPr>
        <p:spPr>
          <a:xfrm>
            <a:off x="411480" y="420624"/>
            <a:ext cx="11338560" cy="329184"/>
          </a:xfrm>
          <a:prstGeom prst="rect">
            <a:avLst/>
          </a:prstGeom>
          <a:noFill/>
        </p:spPr>
        <p:txBody>
          <a:bodyPr wrap="square">
            <a:spAutoFit/>
          </a:bodyPr>
          <a:lstStyle/>
          <a:p>
            <a:pPr algn="l"/>
            <a:r>
              <a:rPr sz="1100" b="1" i="0">
                <a:solidFill>
                  <a:srgbClr val="7A8AA0"/>
                </a:solidFill>
                <a:latin typeface="Calibri"/>
              </a:rPr>
              <a:t>SMOTE + Anxiety Estimation</a:t>
            </a:r>
          </a:p>
        </p:txBody>
      </p:sp>
      <p:sp>
        <p:nvSpPr>
          <p:cNvPr id="6" name="TextBox 5"/>
          <p:cNvSpPr txBox="1"/>
          <p:nvPr/>
        </p:nvSpPr>
        <p:spPr>
          <a:xfrm>
            <a:off x="411480" y="713232"/>
            <a:ext cx="11338560" cy="658368"/>
          </a:xfrm>
          <a:prstGeom prst="rect">
            <a:avLst/>
          </a:prstGeom>
          <a:noFill/>
        </p:spPr>
        <p:txBody>
          <a:bodyPr wrap="square">
            <a:spAutoFit/>
          </a:bodyPr>
          <a:lstStyle/>
          <a:p>
            <a:pPr algn="l"/>
            <a:r>
              <a:rPr sz="3000" b="1" i="0">
                <a:solidFill>
                  <a:srgbClr val="E8F0FE"/>
                </a:solidFill>
                <a:latin typeface="Calibri"/>
              </a:rPr>
              <a:t>Two Key Enhancements to the Base System</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417320"/>
            <a:ext cx="5623560" cy="4800600"/>
          </a:xfrm>
          <a:prstGeom prst="rect">
            <a:avLst/>
          </a:prstGeom>
          <a:solidFill>
            <a:srgbClr val="0E1623"/>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1527048"/>
            <a:ext cx="5349240" cy="274320"/>
          </a:xfrm>
          <a:prstGeom prst="rect">
            <a:avLst/>
          </a:prstGeom>
          <a:noFill/>
        </p:spPr>
        <p:txBody>
          <a:bodyPr wrap="square">
            <a:spAutoFit/>
          </a:bodyPr>
          <a:lstStyle/>
          <a:p>
            <a:pPr algn="l"/>
            <a:r>
              <a:rPr sz="1300" b="1" i="0">
                <a:solidFill>
                  <a:srgbClr val="F59E0B"/>
                </a:solidFill>
                <a:latin typeface="Calibri"/>
              </a:rPr>
              <a:t>⚖️  SMOTE — Fixing Class Imbalance</a:t>
            </a:r>
          </a:p>
        </p:txBody>
      </p:sp>
      <p:sp>
        <p:nvSpPr>
          <p:cNvPr id="10" name="TextBox 9"/>
          <p:cNvSpPr txBox="1"/>
          <p:nvPr/>
        </p:nvSpPr>
        <p:spPr>
          <a:xfrm>
            <a:off x="530352" y="1901952"/>
            <a:ext cx="5349240" cy="365760"/>
          </a:xfrm>
          <a:prstGeom prst="rect">
            <a:avLst/>
          </a:prstGeom>
          <a:noFill/>
        </p:spPr>
        <p:txBody>
          <a:bodyPr wrap="square">
            <a:spAutoFit/>
          </a:bodyPr>
          <a:lstStyle/>
          <a:p>
            <a:pPr algn="l"/>
            <a:r>
              <a:rPr sz="1150" b="1" i="0">
                <a:solidFill>
                  <a:srgbClr val="EF4444"/>
                </a:solidFill>
                <a:latin typeface="Calibri"/>
              </a:rPr>
              <a:t>▸  High Risk = only 12.8% of dataset — a class imbalance problem</a:t>
            </a:r>
          </a:p>
        </p:txBody>
      </p:sp>
      <p:sp>
        <p:nvSpPr>
          <p:cNvPr id="11" name="TextBox 10"/>
          <p:cNvSpPr txBox="1"/>
          <p:nvPr/>
        </p:nvSpPr>
        <p:spPr>
          <a:xfrm>
            <a:off x="530352" y="2267712"/>
            <a:ext cx="5349240" cy="365760"/>
          </a:xfrm>
          <a:prstGeom prst="rect">
            <a:avLst/>
          </a:prstGeom>
          <a:noFill/>
        </p:spPr>
        <p:txBody>
          <a:bodyPr wrap="square">
            <a:spAutoFit/>
          </a:bodyPr>
          <a:lstStyle/>
          <a:p>
            <a:pPr algn="l"/>
            <a:r>
              <a:rPr sz="1100" b="0" i="0">
                <a:solidFill>
                  <a:srgbClr val="E8F0FE"/>
                </a:solidFill>
                <a:latin typeface="Calibri"/>
              </a:rPr>
              <a:t>▸  A biased model defaulting to 'Low Risk' always = 58% accuracy</a:t>
            </a:r>
          </a:p>
        </p:txBody>
      </p:sp>
      <p:sp>
        <p:nvSpPr>
          <p:cNvPr id="12" name="TextBox 11"/>
          <p:cNvSpPr txBox="1"/>
          <p:nvPr/>
        </p:nvSpPr>
        <p:spPr>
          <a:xfrm>
            <a:off x="530352" y="2633472"/>
            <a:ext cx="5349240" cy="365760"/>
          </a:xfrm>
          <a:prstGeom prst="rect">
            <a:avLst/>
          </a:prstGeom>
          <a:noFill/>
        </p:spPr>
        <p:txBody>
          <a:bodyPr wrap="square">
            <a:spAutoFit/>
          </a:bodyPr>
          <a:lstStyle/>
          <a:p>
            <a:pPr algn="l"/>
            <a:r>
              <a:rPr sz="1100" b="0" i="0">
                <a:solidFill>
                  <a:srgbClr val="E8F0FE"/>
                </a:solidFill>
                <a:latin typeface="Calibri"/>
              </a:rPr>
              <a:t>▸  SMOTE creates synthetic High Risk samples by interpolating
between real ones in feature space</a:t>
            </a:r>
          </a:p>
        </p:txBody>
      </p:sp>
      <p:sp>
        <p:nvSpPr>
          <p:cNvPr id="13" name="TextBox 12"/>
          <p:cNvSpPr txBox="1"/>
          <p:nvPr/>
        </p:nvSpPr>
        <p:spPr>
          <a:xfrm>
            <a:off x="530352" y="2999232"/>
            <a:ext cx="5349240" cy="365760"/>
          </a:xfrm>
          <a:prstGeom prst="rect">
            <a:avLst/>
          </a:prstGeom>
          <a:noFill/>
        </p:spPr>
        <p:txBody>
          <a:bodyPr wrap="square">
            <a:spAutoFit/>
          </a:bodyPr>
          <a:lstStyle/>
          <a:p>
            <a:pPr algn="l"/>
            <a:r>
              <a:rPr sz="1100" b="1" i="0">
                <a:solidFill>
                  <a:srgbClr val="F59E0B"/>
                </a:solidFill>
                <a:latin typeface="Calibri"/>
              </a:rPr>
              <a:t>▸  Applied ONLY to training data — test set stays real-world</a:t>
            </a:r>
          </a:p>
        </p:txBody>
      </p:sp>
      <p:sp>
        <p:nvSpPr>
          <p:cNvPr id="14" name="TextBox 13"/>
          <p:cNvSpPr txBox="1"/>
          <p:nvPr/>
        </p:nvSpPr>
        <p:spPr>
          <a:xfrm>
            <a:off x="530352" y="3364992"/>
            <a:ext cx="5349240" cy="365760"/>
          </a:xfrm>
          <a:prstGeom prst="rect">
            <a:avLst/>
          </a:prstGeom>
          <a:noFill/>
        </p:spPr>
        <p:txBody>
          <a:bodyPr wrap="square">
            <a:spAutoFit/>
          </a:bodyPr>
          <a:lstStyle/>
          <a:p>
            <a:pPr algn="l"/>
            <a:r>
              <a:rPr sz="1100" b="1" i="0">
                <a:solidFill>
                  <a:srgbClr val="22C55E"/>
                </a:solidFill>
                <a:latin typeface="Calibri"/>
              </a:rPr>
              <a:t>▸  Result: High Risk F1 improved to 91%</a:t>
            </a:r>
          </a:p>
        </p:txBody>
      </p:sp>
      <p:pic>
        <p:nvPicPr>
          <p:cNvPr id="15" name="Picture 14" descr="smote_2_class_distribution.png"/>
          <p:cNvPicPr>
            <a:picLocks noChangeAspect="1"/>
          </p:cNvPicPr>
          <p:nvPr/>
        </p:nvPicPr>
        <p:blipFill>
          <a:blip r:embed="rId3"/>
          <a:stretch>
            <a:fillRect/>
          </a:stretch>
        </p:blipFill>
        <p:spPr>
          <a:xfrm>
            <a:off x="530352" y="3657600"/>
            <a:ext cx="5303520" cy="2423160"/>
          </a:xfrm>
          <a:prstGeom prst="rect">
            <a:avLst/>
          </a:prstGeom>
        </p:spPr>
      </p:pic>
      <p:sp>
        <p:nvSpPr>
          <p:cNvPr id="16" name="Rectangle 15"/>
          <p:cNvSpPr/>
          <p:nvPr/>
        </p:nvSpPr>
        <p:spPr>
          <a:xfrm>
            <a:off x="6263640" y="1417320"/>
            <a:ext cx="5577840" cy="4800600"/>
          </a:xfrm>
          <a:prstGeom prst="rect">
            <a:avLst/>
          </a:prstGeom>
          <a:solidFill>
            <a:srgbClr val="0E1623"/>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1527048"/>
            <a:ext cx="5303520" cy="274320"/>
          </a:xfrm>
          <a:prstGeom prst="rect">
            <a:avLst/>
          </a:prstGeom>
          <a:noFill/>
        </p:spPr>
        <p:txBody>
          <a:bodyPr wrap="square">
            <a:spAutoFit/>
          </a:bodyPr>
          <a:lstStyle/>
          <a:p>
            <a:pPr algn="l"/>
            <a:r>
              <a:rPr sz="1300" b="1" i="0">
                <a:solidFill>
                  <a:srgbClr val="A78BFA"/>
                </a:solidFill>
                <a:latin typeface="Calibri"/>
              </a:rPr>
              <a:t>🧠  GAD-7 Inspired Anxiety Estimation</a:t>
            </a:r>
          </a:p>
        </p:txBody>
      </p:sp>
      <p:sp>
        <p:nvSpPr>
          <p:cNvPr id="18" name="Rectangle 17"/>
          <p:cNvSpPr/>
          <p:nvPr/>
        </p:nvSpPr>
        <p:spPr>
          <a:xfrm>
            <a:off x="6419088" y="1901952"/>
            <a:ext cx="5285232" cy="384048"/>
          </a:xfrm>
          <a:prstGeom prst="rect">
            <a:avLst/>
          </a:prstGeom>
          <a:solidFill>
            <a:srgbClr val="140822"/>
          </a:solidFill>
          <a:ln w="1016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1956816"/>
            <a:ext cx="5166360" cy="274320"/>
          </a:xfrm>
          <a:prstGeom prst="rect">
            <a:avLst/>
          </a:prstGeom>
          <a:noFill/>
        </p:spPr>
        <p:txBody>
          <a:bodyPr wrap="square">
            <a:spAutoFit/>
          </a:bodyPr>
          <a:lstStyle/>
          <a:p>
            <a:pPr algn="l"/>
            <a:r>
              <a:rPr sz="950" b="1" i="0">
                <a:solidFill>
                  <a:srgbClr val="A78BFA"/>
                </a:solidFill>
                <a:latin typeface="Calibri"/>
              </a:rPr>
              <a:t>⚠️  This is a GAD-7 INSPIRED proxy estimate — not a validated clinical GAD-7 score.</a:t>
            </a:r>
          </a:p>
        </p:txBody>
      </p:sp>
      <p:sp>
        <p:nvSpPr>
          <p:cNvPr id="20" name="TextBox 19"/>
          <p:cNvSpPr txBox="1"/>
          <p:nvPr/>
        </p:nvSpPr>
        <p:spPr>
          <a:xfrm>
            <a:off x="6419088" y="2395728"/>
            <a:ext cx="5303520" cy="457200"/>
          </a:xfrm>
          <a:prstGeom prst="rect">
            <a:avLst/>
          </a:prstGeom>
          <a:noFill/>
        </p:spPr>
        <p:txBody>
          <a:bodyPr wrap="square">
            <a:spAutoFit/>
          </a:bodyPr>
          <a:lstStyle/>
          <a:p>
            <a:pPr algn="l"/>
            <a:r>
              <a:rPr sz="1100" b="0" i="0">
                <a:solidFill>
                  <a:srgbClr val="E8F0FE"/>
                </a:solidFill>
                <a:latin typeface="Calibri"/>
              </a:rPr>
              <a:t>GAD-7 is the clinical standard for anxiety (scored 0–21).
We approximate it using 3 related survey questions:</a:t>
            </a:r>
          </a:p>
        </p:txBody>
      </p:sp>
      <p:sp>
        <p:nvSpPr>
          <p:cNvPr id="21" name="Rectangle 20"/>
          <p:cNvSpPr/>
          <p:nvPr/>
        </p:nvSpPr>
        <p:spPr>
          <a:xfrm>
            <a:off x="6419088" y="2944368"/>
            <a:ext cx="5285232" cy="594360"/>
          </a:xfrm>
          <a:prstGeom prst="rect">
            <a:avLst/>
          </a:prstGeom>
          <a:solidFill>
            <a:srgbClr val="040710"/>
          </a:solidFill>
          <a:ln w="63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0528" y="3017520"/>
            <a:ext cx="5120640" cy="438912"/>
          </a:xfrm>
          <a:prstGeom prst="rect">
            <a:avLst/>
          </a:prstGeom>
          <a:noFill/>
        </p:spPr>
        <p:txBody>
          <a:bodyPr wrap="square">
            <a:spAutoFit/>
          </a:bodyPr>
          <a:lstStyle/>
          <a:p>
            <a:pPr algn="l"/>
            <a:r>
              <a:rPr sz="950" b="0" i="0">
                <a:solidFill>
                  <a:srgbClr val="A8C7FA"/>
                </a:solidFill>
                <a:latin typeface="Courier New"/>
              </a:rPr>
              <a:t>Estimate = (workload + difficulty_relaxing + exam_anxiety) × 1.2</a:t>
            </a:r>
          </a:p>
        </p:txBody>
      </p:sp>
      <p:sp>
        <p:nvSpPr>
          <p:cNvPr id="23" name="TextBox 22"/>
          <p:cNvSpPr txBox="1"/>
          <p:nvPr/>
        </p:nvSpPr>
        <p:spPr>
          <a:xfrm>
            <a:off x="6419088" y="3657600"/>
            <a:ext cx="5303520" cy="347472"/>
          </a:xfrm>
          <a:prstGeom prst="rect">
            <a:avLst/>
          </a:prstGeom>
          <a:noFill/>
        </p:spPr>
        <p:txBody>
          <a:bodyPr wrap="square">
            <a:spAutoFit/>
          </a:bodyPr>
          <a:lstStyle/>
          <a:p>
            <a:pPr algn="l"/>
            <a:r>
              <a:rPr sz="1100" b="0" i="0">
                <a:solidFill>
                  <a:srgbClr val="E8F0FE"/>
                </a:solidFill>
                <a:latin typeface="Calibri"/>
              </a:rPr>
              <a:t>▸  Students see depression risk + anxiety estimate together</a:t>
            </a:r>
          </a:p>
        </p:txBody>
      </p:sp>
      <p:sp>
        <p:nvSpPr>
          <p:cNvPr id="24" name="TextBox 23"/>
          <p:cNvSpPr txBox="1"/>
          <p:nvPr/>
        </p:nvSpPr>
        <p:spPr>
          <a:xfrm>
            <a:off x="6419088" y="4005072"/>
            <a:ext cx="5303520" cy="347472"/>
          </a:xfrm>
          <a:prstGeom prst="rect">
            <a:avLst/>
          </a:prstGeom>
          <a:noFill/>
        </p:spPr>
        <p:txBody>
          <a:bodyPr wrap="square">
            <a:spAutoFit/>
          </a:bodyPr>
          <a:lstStyle/>
          <a:p>
            <a:pPr algn="l"/>
            <a:r>
              <a:rPr sz="1100" b="1" i="0">
                <a:solidFill>
                  <a:srgbClr val="F59E0B"/>
                </a:solidFill>
                <a:latin typeface="Calibri"/>
              </a:rPr>
              <a:t>▸  Labelled clearly as estimate — not a clinical score</a:t>
            </a:r>
          </a:p>
        </p:txBody>
      </p:sp>
      <p:sp>
        <p:nvSpPr>
          <p:cNvPr id="25" name="TextBox 24"/>
          <p:cNvSpPr txBox="1"/>
          <p:nvPr/>
        </p:nvSpPr>
        <p:spPr>
          <a:xfrm>
            <a:off x="6419088" y="4352544"/>
            <a:ext cx="5303520" cy="347472"/>
          </a:xfrm>
          <a:prstGeom prst="rect">
            <a:avLst/>
          </a:prstGeom>
          <a:noFill/>
        </p:spPr>
        <p:txBody>
          <a:bodyPr wrap="square">
            <a:spAutoFit/>
          </a:bodyPr>
          <a:lstStyle/>
          <a:p>
            <a:pPr algn="l"/>
            <a:r>
              <a:rPr sz="1050" b="0" i="0">
                <a:solidFill>
                  <a:srgbClr val="7A8AA0"/>
                </a:solidFill>
                <a:latin typeface="Calibri"/>
              </a:rPr>
              <a:t>▸  Future scope: replace with full 7-item GAD-7 questionnaire</a:t>
            </a:r>
          </a:p>
        </p:txBody>
      </p:sp>
      <p:sp>
        <p:nvSpPr>
          <p:cNvPr id="26" name="Rectangle 25"/>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28" name="TextBox 27"/>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7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256032"/>
          </a:xfrm>
          <a:prstGeom prst="rect">
            <a:avLst/>
          </a:prstGeom>
          <a:noFill/>
        </p:spPr>
        <p:txBody>
          <a:bodyPr wrap="square">
            <a:spAutoFit/>
          </a:bodyPr>
          <a:lstStyle/>
          <a:p>
            <a:pPr algn="l"/>
            <a:r>
              <a:rPr sz="900" b="1" i="0">
                <a:solidFill>
                  <a:srgbClr val="4FA3FF"/>
                </a:solidFill>
                <a:latin typeface="Calibri"/>
              </a:rPr>
              <a:t>07 · SYSTEM ARCHITECTURE</a:t>
            </a:r>
          </a:p>
        </p:txBody>
      </p:sp>
      <p:sp>
        <p:nvSpPr>
          <p:cNvPr id="5" name="TextBox 4"/>
          <p:cNvSpPr txBox="1"/>
          <p:nvPr/>
        </p:nvSpPr>
        <p:spPr>
          <a:xfrm>
            <a:off x="411480" y="420624"/>
            <a:ext cx="11338560" cy="329184"/>
          </a:xfrm>
          <a:prstGeom prst="rect">
            <a:avLst/>
          </a:prstGeom>
          <a:noFill/>
        </p:spPr>
        <p:txBody>
          <a:bodyPr wrap="square">
            <a:spAutoFit/>
          </a:bodyPr>
          <a:lstStyle/>
          <a:p>
            <a:pPr algn="l"/>
            <a:r>
              <a:rPr sz="1100" b="1" i="0">
                <a:solidFill>
                  <a:srgbClr val="7A8AA0"/>
                </a:solidFill>
                <a:latin typeface="Calibri"/>
              </a:rPr>
              <a:t>How MINDscan Works</a:t>
            </a:r>
          </a:p>
        </p:txBody>
      </p:sp>
      <p:sp>
        <p:nvSpPr>
          <p:cNvPr id="6" name="TextBox 5"/>
          <p:cNvSpPr txBox="1"/>
          <p:nvPr/>
        </p:nvSpPr>
        <p:spPr>
          <a:xfrm>
            <a:off x="411480" y="713232"/>
            <a:ext cx="11338560" cy="658368"/>
          </a:xfrm>
          <a:prstGeom prst="rect">
            <a:avLst/>
          </a:prstGeom>
          <a:noFill/>
        </p:spPr>
        <p:txBody>
          <a:bodyPr wrap="square">
            <a:spAutoFit/>
          </a:bodyPr>
          <a:lstStyle/>
          <a:p>
            <a:pPr algn="l"/>
            <a:r>
              <a:rPr sz="3000" b="1" i="0">
                <a:solidFill>
                  <a:srgbClr val="E8F0FE"/>
                </a:solidFill>
                <a:latin typeface="Calibri"/>
              </a:rPr>
              <a:t>Student Form → ML Model → Risk Result</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508760"/>
            <a:ext cx="1481328" cy="1280160"/>
          </a:xfrm>
          <a:prstGeom prst="rect">
            <a:avLst/>
          </a:prstGeom>
          <a:solidFill>
            <a:srgbClr val="0E1623"/>
          </a:solidFill>
          <a:ln w="2540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508760"/>
            <a:ext cx="1481328" cy="73152"/>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691640"/>
            <a:ext cx="1481328" cy="640080"/>
          </a:xfrm>
          <a:prstGeom prst="rect">
            <a:avLst/>
          </a:prstGeom>
          <a:noFill/>
        </p:spPr>
        <p:txBody>
          <a:bodyPr wrap="square">
            <a:spAutoFit/>
          </a:bodyPr>
          <a:lstStyle/>
          <a:p>
            <a:pPr algn="ctr"/>
            <a:r>
              <a:rPr sz="1400" b="1" i="0">
                <a:solidFill>
                  <a:srgbClr val="E8F0FE"/>
                </a:solidFill>
                <a:latin typeface="Calibri"/>
              </a:rPr>
              <a:t>Student
Form</a:t>
            </a:r>
          </a:p>
        </p:txBody>
      </p:sp>
      <p:sp>
        <p:nvSpPr>
          <p:cNvPr id="11" name="TextBox 10"/>
          <p:cNvSpPr txBox="1"/>
          <p:nvPr/>
        </p:nvSpPr>
        <p:spPr>
          <a:xfrm>
            <a:off x="320040" y="2377440"/>
            <a:ext cx="1481328" cy="256032"/>
          </a:xfrm>
          <a:prstGeom prst="rect">
            <a:avLst/>
          </a:prstGeom>
          <a:noFill/>
        </p:spPr>
        <p:txBody>
          <a:bodyPr wrap="square">
            <a:spAutoFit/>
          </a:bodyPr>
          <a:lstStyle/>
          <a:p>
            <a:pPr algn="ctr"/>
            <a:r>
              <a:rPr sz="1000" b="0" i="0">
                <a:solidFill>
                  <a:srgbClr val="4FA3FF"/>
                </a:solidFill>
                <a:latin typeface="Calibri"/>
              </a:rPr>
              <a:t>22 inputs</a:t>
            </a:r>
          </a:p>
        </p:txBody>
      </p:sp>
      <p:sp>
        <p:nvSpPr>
          <p:cNvPr id="12" name="TextBox 11"/>
          <p:cNvSpPr txBox="1"/>
          <p:nvPr/>
        </p:nvSpPr>
        <p:spPr>
          <a:xfrm>
            <a:off x="1819656" y="1984248"/>
            <a:ext cx="182880" cy="347472"/>
          </a:xfrm>
          <a:prstGeom prst="rect">
            <a:avLst/>
          </a:prstGeom>
          <a:noFill/>
        </p:spPr>
        <p:txBody>
          <a:bodyPr wrap="square">
            <a:spAutoFit/>
          </a:bodyPr>
          <a:lstStyle/>
          <a:p>
            <a:pPr algn="ctr"/>
            <a:r>
              <a:rPr sz="1800" b="1" i="0">
                <a:solidFill>
                  <a:srgbClr val="7A8AA0"/>
                </a:solidFill>
                <a:latin typeface="Calibri"/>
              </a:rPr>
              <a:t>→</a:t>
            </a:r>
          </a:p>
        </p:txBody>
      </p:sp>
      <p:sp>
        <p:nvSpPr>
          <p:cNvPr id="13" name="Rectangle 12"/>
          <p:cNvSpPr/>
          <p:nvPr/>
        </p:nvSpPr>
        <p:spPr>
          <a:xfrm>
            <a:off x="1984248" y="1508760"/>
            <a:ext cx="1481328" cy="1280160"/>
          </a:xfrm>
          <a:prstGeom prst="rect">
            <a:avLst/>
          </a:prstGeom>
          <a:solidFill>
            <a:srgbClr val="0E1623"/>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984248" y="1508760"/>
            <a:ext cx="1481328"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84248" y="1691640"/>
            <a:ext cx="1481328" cy="640080"/>
          </a:xfrm>
          <a:prstGeom prst="rect">
            <a:avLst/>
          </a:prstGeom>
          <a:noFill/>
        </p:spPr>
        <p:txBody>
          <a:bodyPr wrap="square">
            <a:spAutoFit/>
          </a:bodyPr>
          <a:lstStyle/>
          <a:p>
            <a:pPr algn="ctr"/>
            <a:r>
              <a:rPr sz="1400" b="1" i="0">
                <a:solidFill>
                  <a:srgbClr val="E8F0FE"/>
                </a:solidFill>
                <a:latin typeface="Calibri"/>
              </a:rPr>
              <a:t>Flask
API</a:t>
            </a:r>
          </a:p>
        </p:txBody>
      </p:sp>
      <p:sp>
        <p:nvSpPr>
          <p:cNvPr id="16" name="TextBox 15"/>
          <p:cNvSpPr txBox="1"/>
          <p:nvPr/>
        </p:nvSpPr>
        <p:spPr>
          <a:xfrm>
            <a:off x="1984248" y="2377440"/>
            <a:ext cx="1481328" cy="256032"/>
          </a:xfrm>
          <a:prstGeom prst="rect">
            <a:avLst/>
          </a:prstGeom>
          <a:noFill/>
        </p:spPr>
        <p:txBody>
          <a:bodyPr wrap="square">
            <a:spAutoFit/>
          </a:bodyPr>
          <a:lstStyle/>
          <a:p>
            <a:pPr algn="ctr"/>
            <a:r>
              <a:rPr sz="1000" b="0" i="0">
                <a:solidFill>
                  <a:srgbClr val="A78BFA"/>
                </a:solidFill>
                <a:latin typeface="Calibri"/>
              </a:rPr>
              <a:t>/predict</a:t>
            </a:r>
          </a:p>
        </p:txBody>
      </p:sp>
      <p:sp>
        <p:nvSpPr>
          <p:cNvPr id="17" name="TextBox 16"/>
          <p:cNvSpPr txBox="1"/>
          <p:nvPr/>
        </p:nvSpPr>
        <p:spPr>
          <a:xfrm>
            <a:off x="3483864" y="1984248"/>
            <a:ext cx="182880" cy="347472"/>
          </a:xfrm>
          <a:prstGeom prst="rect">
            <a:avLst/>
          </a:prstGeom>
          <a:noFill/>
        </p:spPr>
        <p:txBody>
          <a:bodyPr wrap="square">
            <a:spAutoFit/>
          </a:bodyPr>
          <a:lstStyle/>
          <a:p>
            <a:pPr algn="ctr"/>
            <a:r>
              <a:rPr sz="1800" b="1" i="0">
                <a:solidFill>
                  <a:srgbClr val="7A8AA0"/>
                </a:solidFill>
                <a:latin typeface="Calibri"/>
              </a:rPr>
              <a:t>→</a:t>
            </a:r>
          </a:p>
        </p:txBody>
      </p:sp>
      <p:sp>
        <p:nvSpPr>
          <p:cNvPr id="18" name="Rectangle 17"/>
          <p:cNvSpPr/>
          <p:nvPr/>
        </p:nvSpPr>
        <p:spPr>
          <a:xfrm>
            <a:off x="3648456" y="1508760"/>
            <a:ext cx="1481328" cy="1280160"/>
          </a:xfrm>
          <a:prstGeom prst="rect">
            <a:avLst/>
          </a:prstGeom>
          <a:solidFill>
            <a:srgbClr val="0E1623"/>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48456" y="1508760"/>
            <a:ext cx="1481328"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48456" y="1691640"/>
            <a:ext cx="1481328" cy="640080"/>
          </a:xfrm>
          <a:prstGeom prst="rect">
            <a:avLst/>
          </a:prstGeom>
          <a:noFill/>
        </p:spPr>
        <p:txBody>
          <a:bodyPr wrap="square">
            <a:spAutoFit/>
          </a:bodyPr>
          <a:lstStyle/>
          <a:p>
            <a:pPr algn="ctr"/>
            <a:r>
              <a:rPr sz="1400" b="1" i="0">
                <a:solidFill>
                  <a:srgbClr val="E8F0FE"/>
                </a:solidFill>
                <a:latin typeface="Calibri"/>
              </a:rPr>
              <a:t>Pre-
process</a:t>
            </a:r>
          </a:p>
        </p:txBody>
      </p:sp>
      <p:sp>
        <p:nvSpPr>
          <p:cNvPr id="21" name="TextBox 20"/>
          <p:cNvSpPr txBox="1"/>
          <p:nvPr/>
        </p:nvSpPr>
        <p:spPr>
          <a:xfrm>
            <a:off x="3648456" y="2377440"/>
            <a:ext cx="1481328" cy="256032"/>
          </a:xfrm>
          <a:prstGeom prst="rect">
            <a:avLst/>
          </a:prstGeom>
          <a:noFill/>
        </p:spPr>
        <p:txBody>
          <a:bodyPr wrap="square">
            <a:spAutoFit/>
          </a:bodyPr>
          <a:lstStyle/>
          <a:p>
            <a:pPr algn="ctr"/>
            <a:r>
              <a:rPr sz="1000" b="0" i="0">
                <a:solidFill>
                  <a:srgbClr val="F59E0B"/>
                </a:solidFill>
                <a:latin typeface="Calibri"/>
              </a:rPr>
              <a:t>Scale [0,1]</a:t>
            </a:r>
          </a:p>
        </p:txBody>
      </p:sp>
      <p:sp>
        <p:nvSpPr>
          <p:cNvPr id="22" name="TextBox 21"/>
          <p:cNvSpPr txBox="1"/>
          <p:nvPr/>
        </p:nvSpPr>
        <p:spPr>
          <a:xfrm>
            <a:off x="5148072" y="1984248"/>
            <a:ext cx="182880" cy="347472"/>
          </a:xfrm>
          <a:prstGeom prst="rect">
            <a:avLst/>
          </a:prstGeom>
          <a:noFill/>
        </p:spPr>
        <p:txBody>
          <a:bodyPr wrap="square">
            <a:spAutoFit/>
          </a:bodyPr>
          <a:lstStyle/>
          <a:p>
            <a:pPr algn="ctr"/>
            <a:r>
              <a:rPr sz="1800" b="1" i="0">
                <a:solidFill>
                  <a:srgbClr val="7A8AA0"/>
                </a:solidFill>
                <a:latin typeface="Calibri"/>
              </a:rPr>
              <a:t>→</a:t>
            </a:r>
          </a:p>
        </p:txBody>
      </p:sp>
      <p:sp>
        <p:nvSpPr>
          <p:cNvPr id="23" name="Rectangle 22"/>
          <p:cNvSpPr/>
          <p:nvPr/>
        </p:nvSpPr>
        <p:spPr>
          <a:xfrm>
            <a:off x="5312664" y="1508760"/>
            <a:ext cx="1481328" cy="1280160"/>
          </a:xfrm>
          <a:prstGeom prst="rect">
            <a:avLst/>
          </a:prstGeom>
          <a:solidFill>
            <a:srgbClr val="0E1623"/>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312664" y="1508760"/>
            <a:ext cx="1481328"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12664" y="1691640"/>
            <a:ext cx="1481328" cy="640080"/>
          </a:xfrm>
          <a:prstGeom prst="rect">
            <a:avLst/>
          </a:prstGeom>
          <a:noFill/>
        </p:spPr>
        <p:txBody>
          <a:bodyPr wrap="square">
            <a:spAutoFit/>
          </a:bodyPr>
          <a:lstStyle/>
          <a:p>
            <a:pPr algn="ctr"/>
            <a:r>
              <a:rPr sz="1400" b="1" i="0">
                <a:solidFill>
                  <a:srgbClr val="E8F0FE"/>
                </a:solidFill>
                <a:latin typeface="Calibri"/>
              </a:rPr>
              <a:t>ML
Model</a:t>
            </a:r>
          </a:p>
        </p:txBody>
      </p:sp>
      <p:sp>
        <p:nvSpPr>
          <p:cNvPr id="26" name="TextBox 25"/>
          <p:cNvSpPr txBox="1"/>
          <p:nvPr/>
        </p:nvSpPr>
        <p:spPr>
          <a:xfrm>
            <a:off x="5312664" y="2377440"/>
            <a:ext cx="1481328" cy="256032"/>
          </a:xfrm>
          <a:prstGeom prst="rect">
            <a:avLst/>
          </a:prstGeom>
          <a:noFill/>
        </p:spPr>
        <p:txBody>
          <a:bodyPr wrap="square">
            <a:spAutoFit/>
          </a:bodyPr>
          <a:lstStyle/>
          <a:p>
            <a:pPr algn="ctr"/>
            <a:r>
              <a:rPr sz="1000" b="0" i="0">
                <a:solidFill>
                  <a:srgbClr val="22C55E"/>
                </a:solidFill>
                <a:latin typeface="Calibri"/>
              </a:rPr>
              <a:t>LR predict</a:t>
            </a:r>
          </a:p>
        </p:txBody>
      </p:sp>
      <p:sp>
        <p:nvSpPr>
          <p:cNvPr id="27" name="TextBox 26"/>
          <p:cNvSpPr txBox="1"/>
          <p:nvPr/>
        </p:nvSpPr>
        <p:spPr>
          <a:xfrm>
            <a:off x="6812280" y="1984248"/>
            <a:ext cx="182880" cy="347472"/>
          </a:xfrm>
          <a:prstGeom prst="rect">
            <a:avLst/>
          </a:prstGeom>
          <a:noFill/>
        </p:spPr>
        <p:txBody>
          <a:bodyPr wrap="square">
            <a:spAutoFit/>
          </a:bodyPr>
          <a:lstStyle/>
          <a:p>
            <a:pPr algn="ctr"/>
            <a:r>
              <a:rPr sz="1800" b="1" i="0">
                <a:solidFill>
                  <a:srgbClr val="7A8AA0"/>
                </a:solidFill>
                <a:latin typeface="Calibri"/>
              </a:rPr>
              <a:t>→</a:t>
            </a:r>
          </a:p>
        </p:txBody>
      </p:sp>
      <p:sp>
        <p:nvSpPr>
          <p:cNvPr id="28" name="Rectangle 27"/>
          <p:cNvSpPr/>
          <p:nvPr/>
        </p:nvSpPr>
        <p:spPr>
          <a:xfrm>
            <a:off x="6976872" y="1508760"/>
            <a:ext cx="1481328" cy="1280160"/>
          </a:xfrm>
          <a:prstGeom prst="rect">
            <a:avLst/>
          </a:prstGeom>
          <a:solidFill>
            <a:srgbClr val="0E1623"/>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976872" y="1508760"/>
            <a:ext cx="1481328"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76872" y="1691640"/>
            <a:ext cx="1481328" cy="640080"/>
          </a:xfrm>
          <a:prstGeom prst="rect">
            <a:avLst/>
          </a:prstGeom>
          <a:noFill/>
        </p:spPr>
        <p:txBody>
          <a:bodyPr wrap="square">
            <a:spAutoFit/>
          </a:bodyPr>
          <a:lstStyle/>
          <a:p>
            <a:pPr algn="ctr"/>
            <a:r>
              <a:rPr sz="1400" b="1" i="0">
                <a:solidFill>
                  <a:srgbClr val="E8F0FE"/>
                </a:solidFill>
                <a:latin typeface="Calibri"/>
              </a:rPr>
              <a:t>SHAP
Insights</a:t>
            </a:r>
          </a:p>
        </p:txBody>
      </p:sp>
      <p:sp>
        <p:nvSpPr>
          <p:cNvPr id="31" name="TextBox 30"/>
          <p:cNvSpPr txBox="1"/>
          <p:nvPr/>
        </p:nvSpPr>
        <p:spPr>
          <a:xfrm>
            <a:off x="6976872" y="2377440"/>
            <a:ext cx="1481328" cy="256032"/>
          </a:xfrm>
          <a:prstGeom prst="rect">
            <a:avLst/>
          </a:prstGeom>
          <a:noFill/>
        </p:spPr>
        <p:txBody>
          <a:bodyPr wrap="square">
            <a:spAutoFit/>
          </a:bodyPr>
          <a:lstStyle/>
          <a:p>
            <a:pPr algn="ctr"/>
            <a:r>
              <a:rPr sz="1000" b="0" i="0">
                <a:solidFill>
                  <a:srgbClr val="22C55E"/>
                </a:solidFill>
                <a:latin typeface="Calibri"/>
              </a:rPr>
              <a:t>Model behaviour</a:t>
            </a:r>
          </a:p>
        </p:txBody>
      </p:sp>
      <p:sp>
        <p:nvSpPr>
          <p:cNvPr id="32" name="TextBox 31"/>
          <p:cNvSpPr txBox="1"/>
          <p:nvPr/>
        </p:nvSpPr>
        <p:spPr>
          <a:xfrm>
            <a:off x="8476488" y="1984248"/>
            <a:ext cx="182880" cy="347472"/>
          </a:xfrm>
          <a:prstGeom prst="rect">
            <a:avLst/>
          </a:prstGeom>
          <a:noFill/>
        </p:spPr>
        <p:txBody>
          <a:bodyPr wrap="square">
            <a:spAutoFit/>
          </a:bodyPr>
          <a:lstStyle/>
          <a:p>
            <a:pPr algn="ctr"/>
            <a:r>
              <a:rPr sz="1800" b="1" i="0">
                <a:solidFill>
                  <a:srgbClr val="7A8AA0"/>
                </a:solidFill>
                <a:latin typeface="Calibri"/>
              </a:rPr>
              <a:t>→</a:t>
            </a:r>
          </a:p>
        </p:txBody>
      </p:sp>
      <p:sp>
        <p:nvSpPr>
          <p:cNvPr id="33" name="Rectangle 32"/>
          <p:cNvSpPr/>
          <p:nvPr/>
        </p:nvSpPr>
        <p:spPr>
          <a:xfrm>
            <a:off x="8641080" y="1508760"/>
            <a:ext cx="1481328" cy="1280160"/>
          </a:xfrm>
          <a:prstGeom prst="rect">
            <a:avLst/>
          </a:prstGeom>
          <a:solidFill>
            <a:srgbClr val="0E1623"/>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641080" y="1508760"/>
            <a:ext cx="1481328"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41080" y="1691640"/>
            <a:ext cx="1481328" cy="640080"/>
          </a:xfrm>
          <a:prstGeom prst="rect">
            <a:avLst/>
          </a:prstGeom>
          <a:noFill/>
        </p:spPr>
        <p:txBody>
          <a:bodyPr wrap="square">
            <a:spAutoFit/>
          </a:bodyPr>
          <a:lstStyle/>
          <a:p>
            <a:pPr algn="ctr"/>
            <a:r>
              <a:rPr sz="1400" b="1" i="0">
                <a:solidFill>
                  <a:srgbClr val="E8F0FE"/>
                </a:solidFill>
                <a:latin typeface="Calibri"/>
              </a:rPr>
              <a:t>Risk
Result</a:t>
            </a:r>
          </a:p>
        </p:txBody>
      </p:sp>
      <p:sp>
        <p:nvSpPr>
          <p:cNvPr id="36" name="TextBox 35"/>
          <p:cNvSpPr txBox="1"/>
          <p:nvPr/>
        </p:nvSpPr>
        <p:spPr>
          <a:xfrm>
            <a:off x="8641080" y="2377440"/>
            <a:ext cx="1481328" cy="256032"/>
          </a:xfrm>
          <a:prstGeom prst="rect">
            <a:avLst/>
          </a:prstGeom>
          <a:noFill/>
        </p:spPr>
        <p:txBody>
          <a:bodyPr wrap="square">
            <a:spAutoFit/>
          </a:bodyPr>
          <a:lstStyle/>
          <a:p>
            <a:pPr algn="ctr"/>
            <a:r>
              <a:rPr sz="1000" b="0" i="0">
                <a:solidFill>
                  <a:srgbClr val="EF4444"/>
                </a:solidFill>
                <a:latin typeface="Calibri"/>
              </a:rPr>
              <a:t>Low/Mod/High</a:t>
            </a:r>
          </a:p>
        </p:txBody>
      </p:sp>
      <p:sp>
        <p:nvSpPr>
          <p:cNvPr id="37" name="TextBox 36"/>
          <p:cNvSpPr txBox="1"/>
          <p:nvPr/>
        </p:nvSpPr>
        <p:spPr>
          <a:xfrm>
            <a:off x="10140696" y="1984248"/>
            <a:ext cx="182880" cy="347472"/>
          </a:xfrm>
          <a:prstGeom prst="rect">
            <a:avLst/>
          </a:prstGeom>
          <a:noFill/>
        </p:spPr>
        <p:txBody>
          <a:bodyPr wrap="square">
            <a:spAutoFit/>
          </a:bodyPr>
          <a:lstStyle/>
          <a:p>
            <a:pPr algn="ctr"/>
            <a:r>
              <a:rPr sz="1800" b="1" i="0">
                <a:solidFill>
                  <a:srgbClr val="7A8AA0"/>
                </a:solidFill>
                <a:latin typeface="Calibri"/>
              </a:rPr>
              <a:t>→</a:t>
            </a:r>
          </a:p>
        </p:txBody>
      </p:sp>
      <p:sp>
        <p:nvSpPr>
          <p:cNvPr id="38" name="Rectangle 37"/>
          <p:cNvSpPr/>
          <p:nvPr/>
        </p:nvSpPr>
        <p:spPr>
          <a:xfrm>
            <a:off x="10305288" y="1508760"/>
            <a:ext cx="1481328" cy="1280160"/>
          </a:xfrm>
          <a:prstGeom prst="rect">
            <a:avLst/>
          </a:prstGeom>
          <a:solidFill>
            <a:srgbClr val="0E1623"/>
          </a:solidFill>
          <a:ln w="2540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305288" y="1508760"/>
            <a:ext cx="1481328" cy="73152"/>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305288" y="1691640"/>
            <a:ext cx="1481328" cy="640080"/>
          </a:xfrm>
          <a:prstGeom prst="rect">
            <a:avLst/>
          </a:prstGeom>
          <a:noFill/>
        </p:spPr>
        <p:txBody>
          <a:bodyPr wrap="square">
            <a:spAutoFit/>
          </a:bodyPr>
          <a:lstStyle/>
          <a:p>
            <a:pPr algn="ctr"/>
            <a:r>
              <a:rPr sz="1400" b="1" i="0">
                <a:solidFill>
                  <a:srgbClr val="E8F0FE"/>
                </a:solidFill>
                <a:latin typeface="Calibri"/>
              </a:rPr>
              <a:t>Wellness
Tips</a:t>
            </a:r>
          </a:p>
        </p:txBody>
      </p:sp>
      <p:sp>
        <p:nvSpPr>
          <p:cNvPr id="41" name="TextBox 40"/>
          <p:cNvSpPr txBox="1"/>
          <p:nvPr/>
        </p:nvSpPr>
        <p:spPr>
          <a:xfrm>
            <a:off x="10305288" y="2377440"/>
            <a:ext cx="1481328" cy="256032"/>
          </a:xfrm>
          <a:prstGeom prst="rect">
            <a:avLst/>
          </a:prstGeom>
          <a:noFill/>
        </p:spPr>
        <p:txBody>
          <a:bodyPr wrap="square">
            <a:spAutoFit/>
          </a:bodyPr>
          <a:lstStyle/>
          <a:p>
            <a:pPr algn="ctr"/>
            <a:r>
              <a:rPr sz="1000" b="0" i="0">
                <a:solidFill>
                  <a:srgbClr val="4FA3FF"/>
                </a:solidFill>
                <a:latin typeface="Calibri"/>
              </a:rPr>
              <a:t>+ Helplines</a:t>
            </a:r>
          </a:p>
        </p:txBody>
      </p:sp>
      <p:sp>
        <p:nvSpPr>
          <p:cNvPr id="42" name="Rectangle 41"/>
          <p:cNvSpPr/>
          <p:nvPr/>
        </p:nvSpPr>
        <p:spPr>
          <a:xfrm>
            <a:off x="320040" y="3017520"/>
            <a:ext cx="3749039" cy="1508760"/>
          </a:xfrm>
          <a:prstGeom prst="rect">
            <a:avLst/>
          </a:prstGeom>
          <a:solidFill>
            <a:srgbClr val="0E1623"/>
          </a:solidFill>
          <a:ln w="1524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7200" y="3127248"/>
            <a:ext cx="3520440" cy="274320"/>
          </a:xfrm>
          <a:prstGeom prst="rect">
            <a:avLst/>
          </a:prstGeom>
          <a:noFill/>
        </p:spPr>
        <p:txBody>
          <a:bodyPr wrap="square">
            <a:spAutoFit/>
          </a:bodyPr>
          <a:lstStyle/>
          <a:p>
            <a:pPr algn="l"/>
            <a:r>
              <a:rPr sz="1200" b="1" i="0">
                <a:solidFill>
                  <a:srgbClr val="4FA3FF"/>
                </a:solidFill>
                <a:latin typeface="Calibri"/>
              </a:rPr>
              <a:t>🐍  Backend</a:t>
            </a:r>
          </a:p>
        </p:txBody>
      </p:sp>
      <p:sp>
        <p:nvSpPr>
          <p:cNvPr id="44" name="TextBox 43"/>
          <p:cNvSpPr txBox="1"/>
          <p:nvPr/>
        </p:nvSpPr>
        <p:spPr>
          <a:xfrm>
            <a:off x="457200" y="3438144"/>
            <a:ext cx="3520440" cy="274320"/>
          </a:xfrm>
          <a:prstGeom prst="rect">
            <a:avLst/>
          </a:prstGeom>
          <a:noFill/>
        </p:spPr>
        <p:txBody>
          <a:bodyPr wrap="square">
            <a:spAutoFit/>
          </a:bodyPr>
          <a:lstStyle/>
          <a:p>
            <a:pPr algn="l"/>
            <a:r>
              <a:rPr sz="1100" b="0" i="0">
                <a:solidFill>
                  <a:srgbClr val="E8F0FE"/>
                </a:solidFill>
                <a:latin typeface="Calibri"/>
              </a:rPr>
              <a:t>▸  Python 3.11 + Flask</a:t>
            </a:r>
          </a:p>
        </p:txBody>
      </p:sp>
      <p:sp>
        <p:nvSpPr>
          <p:cNvPr id="45" name="TextBox 44"/>
          <p:cNvSpPr txBox="1"/>
          <p:nvPr/>
        </p:nvSpPr>
        <p:spPr>
          <a:xfrm>
            <a:off x="457200" y="3712464"/>
            <a:ext cx="3520440" cy="274320"/>
          </a:xfrm>
          <a:prstGeom prst="rect">
            <a:avLst/>
          </a:prstGeom>
          <a:noFill/>
        </p:spPr>
        <p:txBody>
          <a:bodyPr wrap="square">
            <a:spAutoFit/>
          </a:bodyPr>
          <a:lstStyle/>
          <a:p>
            <a:pPr algn="l"/>
            <a:r>
              <a:rPr sz="1100" b="0" i="0">
                <a:solidFill>
                  <a:srgbClr val="E8F0FE"/>
                </a:solidFill>
                <a:latin typeface="Calibri"/>
              </a:rPr>
              <a:t>▸  scikit-learn, pandas, numpy</a:t>
            </a:r>
          </a:p>
        </p:txBody>
      </p:sp>
      <p:sp>
        <p:nvSpPr>
          <p:cNvPr id="46" name="TextBox 45"/>
          <p:cNvSpPr txBox="1"/>
          <p:nvPr/>
        </p:nvSpPr>
        <p:spPr>
          <a:xfrm>
            <a:off x="457200" y="3986784"/>
            <a:ext cx="3520440" cy="274320"/>
          </a:xfrm>
          <a:prstGeom prst="rect">
            <a:avLst/>
          </a:prstGeom>
          <a:noFill/>
        </p:spPr>
        <p:txBody>
          <a:bodyPr wrap="square">
            <a:spAutoFit/>
          </a:bodyPr>
          <a:lstStyle/>
          <a:p>
            <a:pPr algn="l"/>
            <a:r>
              <a:rPr sz="1100" b="0" i="0">
                <a:solidFill>
                  <a:srgbClr val="E8F0FE"/>
                </a:solidFill>
                <a:latin typeface="Calibri"/>
              </a:rPr>
              <a:t>▸  SHAP + imbalanced-learn</a:t>
            </a:r>
          </a:p>
        </p:txBody>
      </p:sp>
      <p:sp>
        <p:nvSpPr>
          <p:cNvPr id="47" name="Rectangle 46"/>
          <p:cNvSpPr/>
          <p:nvPr/>
        </p:nvSpPr>
        <p:spPr>
          <a:xfrm>
            <a:off x="4389120" y="3017520"/>
            <a:ext cx="3749039" cy="1508760"/>
          </a:xfrm>
          <a:prstGeom prst="rect">
            <a:avLst/>
          </a:prstGeom>
          <a:solidFill>
            <a:srgbClr val="0E1623"/>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26280" y="3127248"/>
            <a:ext cx="3520440" cy="274320"/>
          </a:xfrm>
          <a:prstGeom prst="rect">
            <a:avLst/>
          </a:prstGeom>
          <a:noFill/>
        </p:spPr>
        <p:txBody>
          <a:bodyPr wrap="square">
            <a:spAutoFit/>
          </a:bodyPr>
          <a:lstStyle/>
          <a:p>
            <a:pPr algn="l"/>
            <a:r>
              <a:rPr sz="1200" b="1" i="0">
                <a:solidFill>
                  <a:srgbClr val="A78BFA"/>
                </a:solidFill>
                <a:latin typeface="Calibri"/>
              </a:rPr>
              <a:t>🌐  Frontend</a:t>
            </a:r>
          </a:p>
        </p:txBody>
      </p:sp>
      <p:sp>
        <p:nvSpPr>
          <p:cNvPr id="49" name="TextBox 48"/>
          <p:cNvSpPr txBox="1"/>
          <p:nvPr/>
        </p:nvSpPr>
        <p:spPr>
          <a:xfrm>
            <a:off x="4526280" y="3438144"/>
            <a:ext cx="3520440" cy="274320"/>
          </a:xfrm>
          <a:prstGeom prst="rect">
            <a:avLst/>
          </a:prstGeom>
          <a:noFill/>
        </p:spPr>
        <p:txBody>
          <a:bodyPr wrap="square">
            <a:spAutoFit/>
          </a:bodyPr>
          <a:lstStyle/>
          <a:p>
            <a:pPr algn="l"/>
            <a:r>
              <a:rPr sz="1100" b="0" i="0">
                <a:solidFill>
                  <a:srgbClr val="E8F0FE"/>
                </a:solidFill>
                <a:latin typeface="Calibri"/>
              </a:rPr>
              <a:t>▸  HTML5 + CSS + JavaScript</a:t>
            </a:r>
          </a:p>
        </p:txBody>
      </p:sp>
      <p:sp>
        <p:nvSpPr>
          <p:cNvPr id="50" name="TextBox 49"/>
          <p:cNvSpPr txBox="1"/>
          <p:nvPr/>
        </p:nvSpPr>
        <p:spPr>
          <a:xfrm>
            <a:off x="4526280" y="3712464"/>
            <a:ext cx="3520440" cy="274320"/>
          </a:xfrm>
          <a:prstGeom prst="rect">
            <a:avLst/>
          </a:prstGeom>
          <a:noFill/>
        </p:spPr>
        <p:txBody>
          <a:bodyPr wrap="square">
            <a:spAutoFit/>
          </a:bodyPr>
          <a:lstStyle/>
          <a:p>
            <a:pPr algn="l"/>
            <a:r>
              <a:rPr sz="1100" b="0" i="0">
                <a:solidFill>
                  <a:srgbClr val="E8F0FE"/>
                </a:solidFill>
                <a:latin typeface="Calibri"/>
              </a:rPr>
              <a:t>▸  Async fetch() API</a:t>
            </a:r>
          </a:p>
        </p:txBody>
      </p:sp>
      <p:sp>
        <p:nvSpPr>
          <p:cNvPr id="51" name="TextBox 50"/>
          <p:cNvSpPr txBox="1"/>
          <p:nvPr/>
        </p:nvSpPr>
        <p:spPr>
          <a:xfrm>
            <a:off x="4526280" y="3986784"/>
            <a:ext cx="3520440" cy="274320"/>
          </a:xfrm>
          <a:prstGeom prst="rect">
            <a:avLst/>
          </a:prstGeom>
          <a:noFill/>
        </p:spPr>
        <p:txBody>
          <a:bodyPr wrap="square">
            <a:spAutoFit/>
          </a:bodyPr>
          <a:lstStyle/>
          <a:p>
            <a:pPr algn="l"/>
            <a:r>
              <a:rPr sz="1100" b="0" i="0">
                <a:solidFill>
                  <a:srgbClr val="E8F0FE"/>
                </a:solidFill>
                <a:latin typeface="Calibri"/>
              </a:rPr>
              <a:t>▸  Fully mobile-responsive</a:t>
            </a:r>
          </a:p>
        </p:txBody>
      </p:sp>
      <p:sp>
        <p:nvSpPr>
          <p:cNvPr id="52" name="Rectangle 51"/>
          <p:cNvSpPr/>
          <p:nvPr/>
        </p:nvSpPr>
        <p:spPr>
          <a:xfrm>
            <a:off x="8458200" y="3025140"/>
            <a:ext cx="3328416" cy="1508760"/>
          </a:xfrm>
          <a:prstGeom prst="rect">
            <a:avLst/>
          </a:prstGeom>
          <a:solidFill>
            <a:srgbClr val="0E1623"/>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595360" y="3127248"/>
            <a:ext cx="3520440" cy="274320"/>
          </a:xfrm>
          <a:prstGeom prst="rect">
            <a:avLst/>
          </a:prstGeom>
          <a:noFill/>
        </p:spPr>
        <p:txBody>
          <a:bodyPr wrap="square">
            <a:spAutoFit/>
          </a:bodyPr>
          <a:lstStyle/>
          <a:p>
            <a:pPr algn="l"/>
            <a:r>
              <a:rPr sz="1200" b="1" i="0">
                <a:solidFill>
                  <a:srgbClr val="22C55E"/>
                </a:solidFill>
                <a:latin typeface="Calibri"/>
              </a:rPr>
              <a:t>☁️  Deployed on Render</a:t>
            </a:r>
          </a:p>
        </p:txBody>
      </p:sp>
      <p:sp>
        <p:nvSpPr>
          <p:cNvPr id="54" name="TextBox 53"/>
          <p:cNvSpPr txBox="1"/>
          <p:nvPr/>
        </p:nvSpPr>
        <p:spPr>
          <a:xfrm>
            <a:off x="8595360" y="3438144"/>
            <a:ext cx="3520440" cy="274320"/>
          </a:xfrm>
          <a:prstGeom prst="rect">
            <a:avLst/>
          </a:prstGeom>
          <a:noFill/>
        </p:spPr>
        <p:txBody>
          <a:bodyPr wrap="square">
            <a:spAutoFit/>
          </a:bodyPr>
          <a:lstStyle/>
          <a:p>
            <a:pPr algn="l"/>
            <a:r>
              <a:rPr sz="1100" b="0" i="0">
                <a:solidFill>
                  <a:srgbClr val="E8F0FE"/>
                </a:solidFill>
                <a:latin typeface="Calibri"/>
              </a:rPr>
              <a:t>▸  GitHub → auto-deploy</a:t>
            </a:r>
          </a:p>
        </p:txBody>
      </p:sp>
      <p:sp>
        <p:nvSpPr>
          <p:cNvPr id="55" name="TextBox 54"/>
          <p:cNvSpPr txBox="1"/>
          <p:nvPr/>
        </p:nvSpPr>
        <p:spPr>
          <a:xfrm>
            <a:off x="8595360" y="3712464"/>
            <a:ext cx="3520440" cy="274320"/>
          </a:xfrm>
          <a:prstGeom prst="rect">
            <a:avLst/>
          </a:prstGeom>
          <a:noFill/>
        </p:spPr>
        <p:txBody>
          <a:bodyPr wrap="square">
            <a:spAutoFit/>
          </a:bodyPr>
          <a:lstStyle/>
          <a:p>
            <a:pPr algn="l"/>
            <a:r>
              <a:rPr sz="1100" b="0" i="0">
                <a:solidFill>
                  <a:srgbClr val="E8F0FE"/>
                </a:solidFill>
                <a:latin typeface="Calibri"/>
              </a:rPr>
              <a:t>▸  Procfile + runtime.txt</a:t>
            </a:r>
          </a:p>
        </p:txBody>
      </p:sp>
      <p:sp>
        <p:nvSpPr>
          <p:cNvPr id="56" name="TextBox 55"/>
          <p:cNvSpPr txBox="1"/>
          <p:nvPr/>
        </p:nvSpPr>
        <p:spPr>
          <a:xfrm>
            <a:off x="8595360" y="3986784"/>
            <a:ext cx="3520440" cy="274320"/>
          </a:xfrm>
          <a:prstGeom prst="rect">
            <a:avLst/>
          </a:prstGeom>
          <a:noFill/>
        </p:spPr>
        <p:txBody>
          <a:bodyPr wrap="square">
            <a:spAutoFit/>
          </a:bodyPr>
          <a:lstStyle/>
          <a:p>
            <a:pPr algn="l"/>
            <a:r>
              <a:rPr sz="1100" b="0" i="0">
                <a:solidFill>
                  <a:srgbClr val="E8F0FE"/>
                </a:solidFill>
                <a:latin typeface="Calibri"/>
              </a:rPr>
              <a:t>▸  Publicly deployed and accessible online</a:t>
            </a:r>
          </a:p>
        </p:txBody>
      </p:sp>
      <p:sp>
        <p:nvSpPr>
          <p:cNvPr id="57" name="Rectangle 56"/>
          <p:cNvSpPr/>
          <p:nvPr/>
        </p:nvSpPr>
        <p:spPr>
          <a:xfrm>
            <a:off x="320040" y="4663440"/>
            <a:ext cx="11466576" cy="1143000"/>
          </a:xfrm>
          <a:prstGeom prst="rect">
            <a:avLst/>
          </a:prstGeom>
          <a:solidFill>
            <a:srgbClr val="040710"/>
          </a:solidFill>
          <a:ln w="63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75488" y="4736592"/>
            <a:ext cx="11247120" cy="219456"/>
          </a:xfrm>
          <a:prstGeom prst="rect">
            <a:avLst/>
          </a:prstGeom>
          <a:noFill/>
        </p:spPr>
        <p:txBody>
          <a:bodyPr wrap="square">
            <a:spAutoFit/>
          </a:bodyPr>
          <a:lstStyle/>
          <a:p>
            <a:pPr algn="l"/>
            <a:r>
              <a:rPr sz="900" b="0" i="0">
                <a:solidFill>
                  <a:srgbClr val="6272A4"/>
                </a:solidFill>
                <a:latin typeface="Courier New"/>
              </a:rPr>
              <a:t># Two most critical lines in app.py:</a:t>
            </a:r>
          </a:p>
        </p:txBody>
      </p:sp>
      <p:sp>
        <p:nvSpPr>
          <p:cNvPr id="59" name="TextBox 58"/>
          <p:cNvSpPr txBox="1"/>
          <p:nvPr/>
        </p:nvSpPr>
        <p:spPr>
          <a:xfrm>
            <a:off x="475488" y="4974336"/>
            <a:ext cx="11247120" cy="768096"/>
          </a:xfrm>
          <a:prstGeom prst="rect">
            <a:avLst/>
          </a:prstGeom>
          <a:noFill/>
        </p:spPr>
        <p:txBody>
          <a:bodyPr wrap="square">
            <a:spAutoFit/>
          </a:bodyPr>
          <a:lstStyle/>
          <a:p>
            <a:pPr algn="l"/>
            <a:r>
              <a:rPr sz="1050" b="0" i="0">
                <a:solidFill>
                  <a:srgbClr val="A8C7FA"/>
                </a:solidFill>
                <a:latin typeface="Courier New"/>
              </a:rPr>
              <a:t>input_df     = pd.DataFrame([input_dict])[FEATURES]   # ← enforce correct column order (critical!)
input_scaled = scaler.transform(input_df)              # ← same scaler used during training</a:t>
            </a:r>
          </a:p>
        </p:txBody>
      </p:sp>
      <p:sp>
        <p:nvSpPr>
          <p:cNvPr id="60" name="Rectangle 59"/>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62" name="TextBox 61"/>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825"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825"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825"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0972800" cy="256032"/>
          </a:xfrm>
          <a:prstGeom prst="rect">
            <a:avLst/>
          </a:prstGeom>
          <a:noFill/>
        </p:spPr>
        <p:txBody>
          <a:bodyPr wrap="square">
            <a:spAutoFit/>
          </a:bodyPr>
          <a:lstStyle/>
          <a:p>
            <a:pPr algn="l"/>
            <a:r>
              <a:rPr sz="900" b="1">
                <a:solidFill>
                  <a:srgbClr val="4FA3FF"/>
                </a:solidFill>
                <a:latin typeface="Calibri"/>
              </a:rPr>
              <a:t>08 · LIVE APPLICATION</a:t>
            </a:r>
          </a:p>
        </p:txBody>
      </p:sp>
      <p:sp>
        <p:nvSpPr>
          <p:cNvPr id="6" name="TextBox 5"/>
          <p:cNvSpPr txBox="1"/>
          <p:nvPr/>
        </p:nvSpPr>
        <p:spPr>
          <a:xfrm>
            <a:off x="411480" y="420624"/>
            <a:ext cx="11338560" cy="658368"/>
          </a:xfrm>
          <a:prstGeom prst="rect">
            <a:avLst/>
          </a:prstGeom>
          <a:noFill/>
        </p:spPr>
        <p:txBody>
          <a:bodyPr wrap="square">
            <a:spAutoFit/>
          </a:bodyPr>
          <a:lstStyle/>
          <a:p>
            <a:pPr algn="l"/>
            <a:r>
              <a:rPr sz="3000" b="1">
                <a:solidFill>
                  <a:srgbClr val="E8F0FE"/>
                </a:solidFill>
                <a:latin typeface="Calibri"/>
              </a:rPr>
              <a:t>Beyond Prediction — A Complete Wellness Platform</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7472" y="1481328"/>
            <a:ext cx="3749039" cy="1920240"/>
          </a:xfrm>
          <a:prstGeom prst="rect">
            <a:avLst/>
          </a:prstGeom>
          <a:solidFill>
            <a:srgbClr val="0E1623"/>
          </a:solidFill>
          <a:ln w="2286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7472" y="1481328"/>
            <a:ext cx="3749039" cy="54864"/>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 y="1627632"/>
            <a:ext cx="3474719" cy="347472"/>
          </a:xfrm>
          <a:prstGeom prst="rect">
            <a:avLst/>
          </a:prstGeom>
          <a:noFill/>
        </p:spPr>
        <p:txBody>
          <a:bodyPr wrap="square">
            <a:spAutoFit/>
          </a:bodyPr>
          <a:lstStyle/>
          <a:p>
            <a:pPr algn="l"/>
            <a:r>
              <a:rPr sz="1400" b="1">
                <a:solidFill>
                  <a:srgbClr val="4FA3FF"/>
                </a:solidFill>
                <a:latin typeface="Calibri"/>
              </a:rPr>
              <a:t>📊  Risk Assessment</a:t>
            </a:r>
          </a:p>
        </p:txBody>
      </p:sp>
      <p:sp>
        <p:nvSpPr>
          <p:cNvPr id="11" name="TextBox 10"/>
          <p:cNvSpPr txBox="1"/>
          <p:nvPr/>
        </p:nvSpPr>
        <p:spPr>
          <a:xfrm>
            <a:off x="484632" y="2048256"/>
            <a:ext cx="3474719" cy="1097280"/>
          </a:xfrm>
          <a:prstGeom prst="rect">
            <a:avLst/>
          </a:prstGeom>
          <a:noFill/>
        </p:spPr>
        <p:txBody>
          <a:bodyPr wrap="square">
            <a:spAutoFit/>
          </a:bodyPr>
          <a:lstStyle/>
          <a:p>
            <a:pPr algn="l"/>
            <a:r>
              <a:rPr sz="1050" b="0">
                <a:solidFill>
                  <a:srgbClr val="E8F0FE"/>
                </a:solidFill>
                <a:latin typeface="Calibri"/>
              </a:rPr>
              <a:t>PHQ-9 + lifestyle ML prediction
Low / Moderate / High + SHAP</a:t>
            </a:r>
          </a:p>
        </p:txBody>
      </p:sp>
      <p:sp>
        <p:nvSpPr>
          <p:cNvPr id="12" name="Rectangle 11"/>
          <p:cNvSpPr/>
          <p:nvPr/>
        </p:nvSpPr>
        <p:spPr>
          <a:xfrm>
            <a:off x="4325111" y="1481328"/>
            <a:ext cx="3749039" cy="1920240"/>
          </a:xfrm>
          <a:prstGeom prst="rect">
            <a:avLst/>
          </a:prstGeom>
          <a:solidFill>
            <a:srgbClr val="0E1623"/>
          </a:solidFill>
          <a:ln w="2286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1" y="1481328"/>
            <a:ext cx="3749039"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1" y="1627632"/>
            <a:ext cx="3474719" cy="347472"/>
          </a:xfrm>
          <a:prstGeom prst="rect">
            <a:avLst/>
          </a:prstGeom>
          <a:noFill/>
        </p:spPr>
        <p:txBody>
          <a:bodyPr wrap="square">
            <a:spAutoFit/>
          </a:bodyPr>
          <a:lstStyle/>
          <a:p>
            <a:pPr algn="l"/>
            <a:r>
              <a:rPr sz="1400" b="1">
                <a:solidFill>
                  <a:srgbClr val="A78BFA"/>
                </a:solidFill>
                <a:latin typeface="Calibri"/>
              </a:rPr>
              <a:t>📈  Progress Dashboard</a:t>
            </a:r>
          </a:p>
        </p:txBody>
      </p:sp>
      <p:sp>
        <p:nvSpPr>
          <p:cNvPr id="15" name="TextBox 14"/>
          <p:cNvSpPr txBox="1"/>
          <p:nvPr/>
        </p:nvSpPr>
        <p:spPr>
          <a:xfrm>
            <a:off x="4462271" y="2048256"/>
            <a:ext cx="3474719" cy="1097280"/>
          </a:xfrm>
          <a:prstGeom prst="rect">
            <a:avLst/>
          </a:prstGeom>
          <a:noFill/>
        </p:spPr>
        <p:txBody>
          <a:bodyPr wrap="square">
            <a:spAutoFit/>
          </a:bodyPr>
          <a:lstStyle/>
          <a:p>
            <a:pPr algn="l"/>
            <a:r>
              <a:rPr sz="1050" b="0">
                <a:solidFill>
                  <a:srgbClr val="E8F0FE"/>
                </a:solidFill>
                <a:latin typeface="Calibri"/>
              </a:rPr>
              <a:t>Assessment history, wellness score
&amp; mood trend over time</a:t>
            </a:r>
          </a:p>
        </p:txBody>
      </p:sp>
      <p:sp>
        <p:nvSpPr>
          <p:cNvPr id="16" name="Rectangle 15"/>
          <p:cNvSpPr/>
          <p:nvPr/>
        </p:nvSpPr>
        <p:spPr>
          <a:xfrm>
            <a:off x="8302750" y="1481328"/>
            <a:ext cx="3749039" cy="1920240"/>
          </a:xfrm>
          <a:prstGeom prst="rect">
            <a:avLst/>
          </a:prstGeom>
          <a:solidFill>
            <a:srgbClr val="0E1623"/>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02750" y="1481328"/>
            <a:ext cx="3749039"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9910" y="1627632"/>
            <a:ext cx="3474719" cy="347472"/>
          </a:xfrm>
          <a:prstGeom prst="rect">
            <a:avLst/>
          </a:prstGeom>
          <a:noFill/>
        </p:spPr>
        <p:txBody>
          <a:bodyPr wrap="square">
            <a:spAutoFit/>
          </a:bodyPr>
          <a:lstStyle/>
          <a:p>
            <a:pPr algn="l"/>
            <a:r>
              <a:rPr sz="1400" b="1">
                <a:solidFill>
                  <a:srgbClr val="F59E0B"/>
                </a:solidFill>
                <a:latin typeface="Calibri"/>
              </a:rPr>
              <a:t>📔  Private Journal</a:t>
            </a:r>
          </a:p>
        </p:txBody>
      </p:sp>
      <p:sp>
        <p:nvSpPr>
          <p:cNvPr id="19" name="TextBox 18"/>
          <p:cNvSpPr txBox="1"/>
          <p:nvPr/>
        </p:nvSpPr>
        <p:spPr>
          <a:xfrm>
            <a:off x="8439910" y="2048256"/>
            <a:ext cx="3474719" cy="1097280"/>
          </a:xfrm>
          <a:prstGeom prst="rect">
            <a:avLst/>
          </a:prstGeom>
          <a:noFill/>
        </p:spPr>
        <p:txBody>
          <a:bodyPr wrap="square">
            <a:spAutoFit/>
          </a:bodyPr>
          <a:lstStyle/>
          <a:p>
            <a:pPr algn="l"/>
            <a:r>
              <a:rPr sz="1050" b="0">
                <a:solidFill>
                  <a:srgbClr val="E8F0FE"/>
                </a:solidFill>
                <a:latin typeface="Calibri"/>
              </a:rPr>
              <a:t>Guided prompts, password-protected
Stored only on your device</a:t>
            </a:r>
          </a:p>
        </p:txBody>
      </p:sp>
      <p:sp>
        <p:nvSpPr>
          <p:cNvPr id="20" name="Rectangle 19"/>
          <p:cNvSpPr/>
          <p:nvPr/>
        </p:nvSpPr>
        <p:spPr>
          <a:xfrm>
            <a:off x="347472" y="3602736"/>
            <a:ext cx="3749039" cy="1920240"/>
          </a:xfrm>
          <a:prstGeom prst="rect">
            <a:avLst/>
          </a:prstGeom>
          <a:solidFill>
            <a:srgbClr val="0E1623"/>
          </a:solidFill>
          <a:ln w="2286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7472" y="3602736"/>
            <a:ext cx="3749039"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 y="3749040"/>
            <a:ext cx="3474719" cy="347472"/>
          </a:xfrm>
          <a:prstGeom prst="rect">
            <a:avLst/>
          </a:prstGeom>
          <a:noFill/>
        </p:spPr>
        <p:txBody>
          <a:bodyPr wrap="square">
            <a:spAutoFit/>
          </a:bodyPr>
          <a:lstStyle/>
          <a:p>
            <a:pPr algn="l"/>
            <a:r>
              <a:rPr sz="1400" b="1">
                <a:solidFill>
                  <a:srgbClr val="22C55E"/>
                </a:solidFill>
                <a:latin typeface="Calibri"/>
              </a:rPr>
              <a:t>🌬️  Breathing Timer</a:t>
            </a:r>
          </a:p>
        </p:txBody>
      </p:sp>
      <p:sp>
        <p:nvSpPr>
          <p:cNvPr id="23" name="TextBox 22"/>
          <p:cNvSpPr txBox="1"/>
          <p:nvPr/>
        </p:nvSpPr>
        <p:spPr>
          <a:xfrm>
            <a:off x="484632" y="4169664"/>
            <a:ext cx="3474719" cy="1097280"/>
          </a:xfrm>
          <a:prstGeom prst="rect">
            <a:avLst/>
          </a:prstGeom>
          <a:noFill/>
        </p:spPr>
        <p:txBody>
          <a:bodyPr wrap="square">
            <a:spAutoFit/>
          </a:bodyPr>
          <a:lstStyle/>
          <a:p>
            <a:pPr algn="l"/>
            <a:r>
              <a:rPr sz="1050" b="0">
                <a:solidFill>
                  <a:srgbClr val="E8F0FE"/>
                </a:solidFill>
                <a:latin typeface="Calibri"/>
              </a:rPr>
              <a:t>Guided breathing exercise
Anxiety relief — no data stored</a:t>
            </a:r>
          </a:p>
        </p:txBody>
      </p:sp>
      <p:sp>
        <p:nvSpPr>
          <p:cNvPr id="24" name="Rectangle 23"/>
          <p:cNvSpPr/>
          <p:nvPr/>
        </p:nvSpPr>
        <p:spPr>
          <a:xfrm>
            <a:off x="4325111" y="3602736"/>
            <a:ext cx="3749039" cy="1920240"/>
          </a:xfrm>
          <a:prstGeom prst="rect">
            <a:avLst/>
          </a:prstGeom>
          <a:solidFill>
            <a:srgbClr val="0E1623"/>
          </a:solidFill>
          <a:ln w="2286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25111" y="3602736"/>
            <a:ext cx="3749039"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62271" y="3749040"/>
            <a:ext cx="3474719" cy="347472"/>
          </a:xfrm>
          <a:prstGeom prst="rect">
            <a:avLst/>
          </a:prstGeom>
          <a:noFill/>
        </p:spPr>
        <p:txBody>
          <a:bodyPr wrap="square">
            <a:spAutoFit/>
          </a:bodyPr>
          <a:lstStyle/>
          <a:p>
            <a:pPr algn="l"/>
            <a:r>
              <a:rPr sz="1400" b="1">
                <a:solidFill>
                  <a:srgbClr val="EF4444"/>
                </a:solidFill>
                <a:latin typeface="Calibri"/>
              </a:rPr>
              <a:t>🧘  Body Scan</a:t>
            </a:r>
          </a:p>
        </p:txBody>
      </p:sp>
      <p:sp>
        <p:nvSpPr>
          <p:cNvPr id="27" name="TextBox 26"/>
          <p:cNvSpPr txBox="1"/>
          <p:nvPr/>
        </p:nvSpPr>
        <p:spPr>
          <a:xfrm>
            <a:off x="4462271" y="4169664"/>
            <a:ext cx="3474719" cy="1097280"/>
          </a:xfrm>
          <a:prstGeom prst="rect">
            <a:avLst/>
          </a:prstGeom>
          <a:noFill/>
        </p:spPr>
        <p:txBody>
          <a:bodyPr wrap="square">
            <a:spAutoFit/>
          </a:bodyPr>
          <a:lstStyle/>
          <a:p>
            <a:pPr algn="l"/>
            <a:r>
              <a:rPr sz="1050" b="0">
                <a:solidFill>
                  <a:srgbClr val="E8F0FE"/>
                </a:solidFill>
                <a:latin typeface="Calibri"/>
              </a:rPr>
              <a:t>Step-by-step mindfulness meditation
Head-to-toe guided awareness</a:t>
            </a:r>
          </a:p>
        </p:txBody>
      </p:sp>
      <p:sp>
        <p:nvSpPr>
          <p:cNvPr id="28" name="Rectangle 27"/>
          <p:cNvSpPr/>
          <p:nvPr/>
        </p:nvSpPr>
        <p:spPr>
          <a:xfrm>
            <a:off x="8302750" y="3602736"/>
            <a:ext cx="3749039" cy="1920240"/>
          </a:xfrm>
          <a:prstGeom prst="rect">
            <a:avLst/>
          </a:prstGeom>
          <a:solidFill>
            <a:srgbClr val="0E1623"/>
          </a:solidFill>
          <a:ln w="2286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02750" y="3602736"/>
            <a:ext cx="3749039" cy="54864"/>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39910" y="3749040"/>
            <a:ext cx="3474719" cy="347472"/>
          </a:xfrm>
          <a:prstGeom prst="rect">
            <a:avLst/>
          </a:prstGeom>
          <a:noFill/>
        </p:spPr>
        <p:txBody>
          <a:bodyPr wrap="square">
            <a:spAutoFit/>
          </a:bodyPr>
          <a:lstStyle/>
          <a:p>
            <a:pPr algn="l"/>
            <a:r>
              <a:rPr sz="1400" b="1">
                <a:solidFill>
                  <a:srgbClr val="EC4899"/>
                </a:solidFill>
                <a:latin typeface="Calibri"/>
              </a:rPr>
              <a:t>😊  Quick Mood Check-in</a:t>
            </a:r>
          </a:p>
        </p:txBody>
      </p:sp>
      <p:sp>
        <p:nvSpPr>
          <p:cNvPr id="31" name="TextBox 30"/>
          <p:cNvSpPr txBox="1"/>
          <p:nvPr/>
        </p:nvSpPr>
        <p:spPr>
          <a:xfrm>
            <a:off x="8439910" y="4169664"/>
            <a:ext cx="3474719" cy="1097280"/>
          </a:xfrm>
          <a:prstGeom prst="rect">
            <a:avLst/>
          </a:prstGeom>
          <a:noFill/>
        </p:spPr>
        <p:txBody>
          <a:bodyPr wrap="square">
            <a:spAutoFit/>
          </a:bodyPr>
          <a:lstStyle/>
          <a:p>
            <a:pPr algn="l"/>
            <a:r>
              <a:rPr sz="1050" b="0">
                <a:solidFill>
                  <a:srgbClr val="E8F0FE"/>
                </a:solidFill>
                <a:latin typeface="Calibri"/>
              </a:rPr>
              <a:t>Daily emoji mood log
Tracks emotional state over time</a:t>
            </a:r>
          </a:p>
        </p:txBody>
      </p:sp>
      <p:sp>
        <p:nvSpPr>
          <p:cNvPr id="32" name="Rectangle 31"/>
          <p:cNvSpPr/>
          <p:nvPr/>
        </p:nvSpPr>
        <p:spPr>
          <a:xfrm>
            <a:off x="347472" y="5742432"/>
            <a:ext cx="11494008" cy="512064"/>
          </a:xfrm>
          <a:prstGeom prst="rect">
            <a:avLst/>
          </a:prstGeom>
          <a:solidFill>
            <a:srgbClr val="05101E"/>
          </a:solidFill>
          <a:ln w="1524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5852160"/>
            <a:ext cx="1097280" cy="310896"/>
          </a:xfrm>
          <a:prstGeom prst="rect">
            <a:avLst/>
          </a:prstGeom>
          <a:noFill/>
        </p:spPr>
        <p:txBody>
          <a:bodyPr wrap="square">
            <a:spAutoFit/>
          </a:bodyPr>
          <a:lstStyle/>
          <a:p>
            <a:pPr algn="l"/>
            <a:r>
              <a:rPr sz="1100" b="1">
                <a:solidFill>
                  <a:srgbClr val="4FA3FF"/>
                </a:solidFill>
                <a:latin typeface="Calibri"/>
              </a:rPr>
              <a:t>🔒  Privacy:</a:t>
            </a:r>
          </a:p>
        </p:txBody>
      </p:sp>
      <p:sp>
        <p:nvSpPr>
          <p:cNvPr id="34" name="TextBox 33"/>
          <p:cNvSpPr txBox="1"/>
          <p:nvPr/>
        </p:nvSpPr>
        <p:spPr>
          <a:xfrm>
            <a:off x="1627632" y="5852160"/>
            <a:ext cx="10058400" cy="310896"/>
          </a:xfrm>
          <a:prstGeom prst="rect">
            <a:avLst/>
          </a:prstGeom>
          <a:noFill/>
        </p:spPr>
        <p:txBody>
          <a:bodyPr wrap="square">
            <a:spAutoFit/>
          </a:bodyPr>
          <a:lstStyle/>
          <a:p>
            <a:pPr algn="l"/>
            <a:r>
              <a:rPr sz="1050" b="0">
                <a:solidFill>
                  <a:srgbClr val="E8F0FE"/>
                </a:solidFill>
                <a:latin typeface="Calibri"/>
              </a:rPr>
              <a:t>All data (profile, journal, history) stored in browser localStorage only — no data sent to or stored on any server. Complete privacy by design.</a:t>
            </a:r>
          </a:p>
        </p:txBody>
      </p:sp>
      <p:sp>
        <p:nvSpPr>
          <p:cNvPr id="35" name="TextBox 34"/>
          <p:cNvSpPr txBox="1"/>
          <p:nvPr/>
        </p:nvSpPr>
        <p:spPr>
          <a:xfrm>
            <a:off x="274320" y="6620256"/>
            <a:ext cx="10058400" cy="219456"/>
          </a:xfrm>
          <a:prstGeom prst="rect">
            <a:avLst/>
          </a:prstGeom>
          <a:noFill/>
        </p:spPr>
        <p:txBody>
          <a:bodyPr wrap="square">
            <a:spAutoFit/>
          </a:bodyPr>
          <a:lstStyle/>
          <a:p>
            <a:pPr algn="l"/>
            <a:r>
              <a:rPr sz="800" b="0">
                <a:solidFill>
                  <a:srgbClr val="7A8AA0"/>
                </a:solidFill>
                <a:latin typeface="Calibri"/>
              </a:rPr>
              <a:t>MINDscan  ·  AI-Based Mental Health Screening  ·  Priyanshi Goel  ·  DS4270  ·  MUJ  ·  2026</a:t>
            </a:r>
          </a:p>
        </p:txBody>
      </p:sp>
      <p:sp>
        <p:nvSpPr>
          <p:cNvPr id="36" name="TextBox 35"/>
          <p:cNvSpPr txBox="1"/>
          <p:nvPr/>
        </p:nvSpPr>
        <p:spPr>
          <a:xfrm>
            <a:off x="11521440" y="6620256"/>
            <a:ext cx="502920" cy="219456"/>
          </a:xfrm>
          <a:prstGeom prst="rect">
            <a:avLst/>
          </a:prstGeom>
          <a:noFill/>
        </p:spPr>
        <p:txBody>
          <a:bodyPr wrap="square">
            <a:spAutoFit/>
          </a:bodyPr>
          <a:lstStyle/>
          <a:p>
            <a:pPr algn="r"/>
            <a:r>
              <a:rPr sz="800" b="0">
                <a:solidFill>
                  <a:srgbClr val="7A8AA0"/>
                </a:solidFill>
                <a:latin typeface="Calibri"/>
              </a:rPr>
              <a:t>9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256032"/>
          </a:xfrm>
          <a:prstGeom prst="rect">
            <a:avLst/>
          </a:prstGeom>
          <a:noFill/>
        </p:spPr>
        <p:txBody>
          <a:bodyPr wrap="square">
            <a:spAutoFit/>
          </a:bodyPr>
          <a:lstStyle/>
          <a:p>
            <a:pPr algn="l"/>
            <a:r>
              <a:rPr sz="900" b="1" i="0">
                <a:solidFill>
                  <a:srgbClr val="4FA3FF"/>
                </a:solidFill>
                <a:latin typeface="Calibri"/>
              </a:rPr>
              <a:t>08 · LIMITATIONS</a:t>
            </a:r>
          </a:p>
        </p:txBody>
      </p:sp>
      <p:sp>
        <p:nvSpPr>
          <p:cNvPr id="5" name="TextBox 4"/>
          <p:cNvSpPr txBox="1"/>
          <p:nvPr/>
        </p:nvSpPr>
        <p:spPr>
          <a:xfrm>
            <a:off x="411480" y="420624"/>
            <a:ext cx="11338560" cy="329184"/>
          </a:xfrm>
          <a:prstGeom prst="rect">
            <a:avLst/>
          </a:prstGeom>
          <a:noFill/>
        </p:spPr>
        <p:txBody>
          <a:bodyPr wrap="square">
            <a:spAutoFit/>
          </a:bodyPr>
          <a:lstStyle/>
          <a:p>
            <a:pPr algn="l"/>
            <a:r>
              <a:rPr sz="1100" b="1" i="0">
                <a:solidFill>
                  <a:srgbClr val="7A8AA0"/>
                </a:solidFill>
                <a:latin typeface="Calibri"/>
              </a:rPr>
              <a:t>Honest Limitations</a:t>
            </a:r>
          </a:p>
        </p:txBody>
      </p:sp>
      <p:sp>
        <p:nvSpPr>
          <p:cNvPr id="6" name="TextBox 5"/>
          <p:cNvSpPr txBox="1"/>
          <p:nvPr/>
        </p:nvSpPr>
        <p:spPr>
          <a:xfrm>
            <a:off x="411480" y="713232"/>
            <a:ext cx="11338560" cy="658368"/>
          </a:xfrm>
          <a:prstGeom prst="rect">
            <a:avLst/>
          </a:prstGeom>
          <a:noFill/>
        </p:spPr>
        <p:txBody>
          <a:bodyPr wrap="square">
            <a:spAutoFit/>
          </a:bodyPr>
          <a:lstStyle/>
          <a:p>
            <a:pPr algn="l"/>
            <a:r>
              <a:rPr sz="3000" b="1" i="0">
                <a:solidFill>
                  <a:srgbClr val="E8F0FE"/>
                </a:solidFill>
                <a:latin typeface="Calibri"/>
              </a:rPr>
              <a:t>What This System Cannot Do</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444752"/>
            <a:ext cx="3794760" cy="2148840"/>
          </a:xfrm>
          <a:prstGeom prst="rect">
            <a:avLst/>
          </a:prstGeom>
          <a:solidFill>
            <a:srgbClr val="0E1623"/>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554480"/>
            <a:ext cx="457200" cy="411480"/>
          </a:xfrm>
          <a:prstGeom prst="rect">
            <a:avLst/>
          </a:prstGeom>
          <a:noFill/>
        </p:spPr>
        <p:txBody>
          <a:bodyPr wrap="square">
            <a:spAutoFit/>
          </a:bodyPr>
          <a:lstStyle/>
          <a:p>
            <a:pPr algn="l"/>
            <a:r>
              <a:rPr sz="2600" b="0" i="0">
                <a:solidFill>
                  <a:srgbClr val="E8F0FE"/>
                </a:solidFill>
                <a:latin typeface="Calibri"/>
              </a:rPr>
              <a:t>🚫</a:t>
            </a:r>
          </a:p>
        </p:txBody>
      </p:sp>
      <p:sp>
        <p:nvSpPr>
          <p:cNvPr id="10" name="TextBox 9"/>
          <p:cNvSpPr txBox="1"/>
          <p:nvPr/>
        </p:nvSpPr>
        <p:spPr>
          <a:xfrm>
            <a:off x="978408" y="1581912"/>
            <a:ext cx="3017520" cy="320040"/>
          </a:xfrm>
          <a:prstGeom prst="rect">
            <a:avLst/>
          </a:prstGeom>
          <a:noFill/>
        </p:spPr>
        <p:txBody>
          <a:bodyPr wrap="square">
            <a:spAutoFit/>
          </a:bodyPr>
          <a:lstStyle/>
          <a:p>
            <a:pPr algn="l"/>
            <a:r>
              <a:rPr sz="1200" b="1" i="0">
                <a:solidFill>
                  <a:srgbClr val="EF4444"/>
                </a:solidFill>
                <a:latin typeface="Calibri"/>
              </a:rPr>
              <a:t>Not a Clinical Diagnosis</a:t>
            </a:r>
          </a:p>
        </p:txBody>
      </p:sp>
      <p:sp>
        <p:nvSpPr>
          <p:cNvPr id="11" name="TextBox 10"/>
          <p:cNvSpPr txBox="1"/>
          <p:nvPr/>
        </p:nvSpPr>
        <p:spPr>
          <a:xfrm>
            <a:off x="457200" y="2039112"/>
            <a:ext cx="3566160" cy="1371600"/>
          </a:xfrm>
          <a:prstGeom prst="rect">
            <a:avLst/>
          </a:prstGeom>
          <a:noFill/>
        </p:spPr>
        <p:txBody>
          <a:bodyPr wrap="square">
            <a:spAutoFit/>
          </a:bodyPr>
          <a:lstStyle/>
          <a:p>
            <a:pPr algn="l"/>
            <a:r>
              <a:rPr sz="1050" b="0" i="0">
                <a:solidFill>
                  <a:srgbClr val="E8F0FE"/>
                </a:solidFill>
                <a:latin typeface="Calibri"/>
              </a:rPr>
              <a:t>MINDscan is preliminary screening support only.
A trained mental health professional must make any clinical determination.</a:t>
            </a:r>
          </a:p>
        </p:txBody>
      </p:sp>
      <p:sp>
        <p:nvSpPr>
          <p:cNvPr id="12" name="Rectangle 11"/>
          <p:cNvSpPr/>
          <p:nvPr/>
        </p:nvSpPr>
        <p:spPr>
          <a:xfrm>
            <a:off x="4270248" y="1444752"/>
            <a:ext cx="3794760" cy="2148840"/>
          </a:xfrm>
          <a:prstGeom prst="rect">
            <a:avLst/>
          </a:prstGeom>
          <a:solidFill>
            <a:srgbClr val="0E1623"/>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07408" y="1554480"/>
            <a:ext cx="457200" cy="411480"/>
          </a:xfrm>
          <a:prstGeom prst="rect">
            <a:avLst/>
          </a:prstGeom>
          <a:noFill/>
        </p:spPr>
        <p:txBody>
          <a:bodyPr wrap="square">
            <a:spAutoFit/>
          </a:bodyPr>
          <a:lstStyle/>
          <a:p>
            <a:pPr algn="l"/>
            <a:r>
              <a:rPr sz="2600" b="0" i="0">
                <a:solidFill>
                  <a:srgbClr val="E8F0FE"/>
                </a:solidFill>
                <a:latin typeface="Calibri"/>
              </a:rPr>
              <a:t>📋</a:t>
            </a:r>
          </a:p>
        </p:txBody>
      </p:sp>
      <p:sp>
        <p:nvSpPr>
          <p:cNvPr id="14" name="TextBox 13"/>
          <p:cNvSpPr txBox="1"/>
          <p:nvPr/>
        </p:nvSpPr>
        <p:spPr>
          <a:xfrm>
            <a:off x="4928616" y="1581912"/>
            <a:ext cx="3017520" cy="320040"/>
          </a:xfrm>
          <a:prstGeom prst="rect">
            <a:avLst/>
          </a:prstGeom>
          <a:noFill/>
        </p:spPr>
        <p:txBody>
          <a:bodyPr wrap="square">
            <a:spAutoFit/>
          </a:bodyPr>
          <a:lstStyle/>
          <a:p>
            <a:pPr algn="l"/>
            <a:r>
              <a:rPr sz="1200" b="1" i="0">
                <a:solidFill>
                  <a:srgbClr val="F59E0B"/>
                </a:solidFill>
                <a:latin typeface="Calibri"/>
              </a:rPr>
              <a:t>Self-Reported Data</a:t>
            </a:r>
          </a:p>
        </p:txBody>
      </p:sp>
      <p:sp>
        <p:nvSpPr>
          <p:cNvPr id="15" name="TextBox 14"/>
          <p:cNvSpPr txBox="1"/>
          <p:nvPr/>
        </p:nvSpPr>
        <p:spPr>
          <a:xfrm>
            <a:off x="4407408" y="2039112"/>
            <a:ext cx="3566160" cy="1371600"/>
          </a:xfrm>
          <a:prstGeom prst="rect">
            <a:avLst/>
          </a:prstGeom>
          <a:noFill/>
        </p:spPr>
        <p:txBody>
          <a:bodyPr wrap="square">
            <a:spAutoFit/>
          </a:bodyPr>
          <a:lstStyle/>
          <a:p>
            <a:pPr algn="l"/>
            <a:r>
              <a:rPr sz="1050" b="0" i="0">
                <a:solidFill>
                  <a:srgbClr val="E8F0FE"/>
                </a:solidFill>
                <a:latin typeface="Calibri"/>
              </a:rPr>
              <a:t>PHQ-9 relies on student honesty.
Stigma may cause under-reporting of severe symptoms.</a:t>
            </a:r>
          </a:p>
        </p:txBody>
      </p:sp>
      <p:sp>
        <p:nvSpPr>
          <p:cNvPr id="16" name="Rectangle 15"/>
          <p:cNvSpPr/>
          <p:nvPr/>
        </p:nvSpPr>
        <p:spPr>
          <a:xfrm>
            <a:off x="8220456" y="1444752"/>
            <a:ext cx="3794760" cy="2148840"/>
          </a:xfrm>
          <a:prstGeom prst="rect">
            <a:avLst/>
          </a:prstGeom>
          <a:solidFill>
            <a:srgbClr val="0E1623"/>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57616" y="1554480"/>
            <a:ext cx="457200" cy="411480"/>
          </a:xfrm>
          <a:prstGeom prst="rect">
            <a:avLst/>
          </a:prstGeom>
          <a:noFill/>
        </p:spPr>
        <p:txBody>
          <a:bodyPr wrap="square">
            <a:spAutoFit/>
          </a:bodyPr>
          <a:lstStyle/>
          <a:p>
            <a:pPr algn="l"/>
            <a:r>
              <a:rPr sz="2600" b="0" i="0">
                <a:solidFill>
                  <a:srgbClr val="E8F0FE"/>
                </a:solidFill>
                <a:latin typeface="Calibri"/>
              </a:rPr>
              <a:t>🏛️</a:t>
            </a:r>
          </a:p>
        </p:txBody>
      </p:sp>
      <p:sp>
        <p:nvSpPr>
          <p:cNvPr id="18" name="TextBox 17"/>
          <p:cNvSpPr txBox="1"/>
          <p:nvPr/>
        </p:nvSpPr>
        <p:spPr>
          <a:xfrm>
            <a:off x="8878824" y="1581912"/>
            <a:ext cx="3017520" cy="320040"/>
          </a:xfrm>
          <a:prstGeom prst="rect">
            <a:avLst/>
          </a:prstGeom>
          <a:noFill/>
        </p:spPr>
        <p:txBody>
          <a:bodyPr wrap="square">
            <a:spAutoFit/>
          </a:bodyPr>
          <a:lstStyle/>
          <a:p>
            <a:pPr algn="l"/>
            <a:r>
              <a:rPr sz="1200" b="1" i="0">
                <a:solidFill>
                  <a:srgbClr val="A78BFA"/>
                </a:solidFill>
                <a:latin typeface="Calibri"/>
              </a:rPr>
              <a:t>Single-Institution Dataset</a:t>
            </a:r>
          </a:p>
        </p:txBody>
      </p:sp>
      <p:sp>
        <p:nvSpPr>
          <p:cNvPr id="19" name="TextBox 18"/>
          <p:cNvSpPr txBox="1"/>
          <p:nvPr/>
        </p:nvSpPr>
        <p:spPr>
          <a:xfrm>
            <a:off x="8357616" y="2039112"/>
            <a:ext cx="3566160" cy="1371600"/>
          </a:xfrm>
          <a:prstGeom prst="rect">
            <a:avLst/>
          </a:prstGeom>
          <a:noFill/>
        </p:spPr>
        <p:txBody>
          <a:bodyPr wrap="square">
            <a:spAutoFit/>
          </a:bodyPr>
          <a:lstStyle/>
          <a:p>
            <a:pPr algn="l"/>
            <a:r>
              <a:rPr sz="1050" b="0" i="0">
                <a:solidFill>
                  <a:srgbClr val="E8F0FE"/>
                </a:solidFill>
                <a:latin typeface="Calibri"/>
              </a:rPr>
              <a:t>Trained only on MUJ students.
Generalisation to other universities requires retraining.</a:t>
            </a:r>
          </a:p>
        </p:txBody>
      </p:sp>
      <p:sp>
        <p:nvSpPr>
          <p:cNvPr id="20" name="Rectangle 19"/>
          <p:cNvSpPr/>
          <p:nvPr/>
        </p:nvSpPr>
        <p:spPr>
          <a:xfrm>
            <a:off x="320040" y="3776472"/>
            <a:ext cx="3794760" cy="2148840"/>
          </a:xfrm>
          <a:prstGeom prst="rect">
            <a:avLst/>
          </a:prstGeom>
          <a:solidFill>
            <a:srgbClr val="0E1623"/>
          </a:solidFill>
          <a:ln w="190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3886200"/>
            <a:ext cx="457200" cy="411480"/>
          </a:xfrm>
          <a:prstGeom prst="rect">
            <a:avLst/>
          </a:prstGeom>
          <a:noFill/>
        </p:spPr>
        <p:txBody>
          <a:bodyPr wrap="square">
            <a:spAutoFit/>
          </a:bodyPr>
          <a:lstStyle/>
          <a:p>
            <a:pPr algn="l"/>
            <a:r>
              <a:rPr sz="2600" b="0" i="0">
                <a:solidFill>
                  <a:srgbClr val="E8F0FE"/>
                </a:solidFill>
                <a:latin typeface="Calibri"/>
              </a:rPr>
              <a:t>📐</a:t>
            </a:r>
          </a:p>
        </p:txBody>
      </p:sp>
      <p:sp>
        <p:nvSpPr>
          <p:cNvPr id="22" name="TextBox 21"/>
          <p:cNvSpPr txBox="1"/>
          <p:nvPr/>
        </p:nvSpPr>
        <p:spPr>
          <a:xfrm>
            <a:off x="978408" y="3913632"/>
            <a:ext cx="3017520" cy="320040"/>
          </a:xfrm>
          <a:prstGeom prst="rect">
            <a:avLst/>
          </a:prstGeom>
          <a:noFill/>
        </p:spPr>
        <p:txBody>
          <a:bodyPr wrap="square">
            <a:spAutoFit/>
          </a:bodyPr>
          <a:lstStyle/>
          <a:p>
            <a:pPr algn="l"/>
            <a:r>
              <a:rPr sz="1200" b="1" i="0">
                <a:solidFill>
                  <a:srgbClr val="4FA3FF"/>
                </a:solidFill>
                <a:latin typeface="Calibri"/>
              </a:rPr>
              <a:t>Anxiety Estimate is a Proxy</a:t>
            </a:r>
          </a:p>
        </p:txBody>
      </p:sp>
      <p:sp>
        <p:nvSpPr>
          <p:cNvPr id="23" name="TextBox 22"/>
          <p:cNvSpPr txBox="1"/>
          <p:nvPr/>
        </p:nvSpPr>
        <p:spPr>
          <a:xfrm>
            <a:off x="457200" y="4370832"/>
            <a:ext cx="3566160" cy="1371600"/>
          </a:xfrm>
          <a:prstGeom prst="rect">
            <a:avLst/>
          </a:prstGeom>
          <a:noFill/>
        </p:spPr>
        <p:txBody>
          <a:bodyPr wrap="square">
            <a:spAutoFit/>
          </a:bodyPr>
          <a:lstStyle/>
          <a:p>
            <a:pPr algn="l"/>
            <a:r>
              <a:rPr sz="1050" b="0" i="0">
                <a:solidFill>
                  <a:srgbClr val="E8F0FE"/>
                </a:solidFill>
                <a:latin typeface="Calibri"/>
              </a:rPr>
              <a:t>GAD-7 inspired estimate, not a validated clinical GAD-7 score.
Clearly labelled as estimate in the application.</a:t>
            </a:r>
          </a:p>
        </p:txBody>
      </p:sp>
      <p:sp>
        <p:nvSpPr>
          <p:cNvPr id="24" name="Rectangle 23"/>
          <p:cNvSpPr/>
          <p:nvPr/>
        </p:nvSpPr>
        <p:spPr>
          <a:xfrm>
            <a:off x="4270248" y="3776472"/>
            <a:ext cx="3794760" cy="2148840"/>
          </a:xfrm>
          <a:prstGeom prst="rect">
            <a:avLst/>
          </a:prstGeom>
          <a:solidFill>
            <a:srgbClr val="0E1623"/>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07408" y="3886200"/>
            <a:ext cx="457200" cy="411480"/>
          </a:xfrm>
          <a:prstGeom prst="rect">
            <a:avLst/>
          </a:prstGeom>
          <a:noFill/>
        </p:spPr>
        <p:txBody>
          <a:bodyPr wrap="square">
            <a:spAutoFit/>
          </a:bodyPr>
          <a:lstStyle/>
          <a:p>
            <a:pPr algn="l"/>
            <a:r>
              <a:rPr sz="2600" b="0" i="0">
                <a:solidFill>
                  <a:srgbClr val="E8F0FE"/>
                </a:solidFill>
                <a:latin typeface="Calibri"/>
              </a:rPr>
              <a:t>🔗</a:t>
            </a:r>
          </a:p>
        </p:txBody>
      </p:sp>
      <p:sp>
        <p:nvSpPr>
          <p:cNvPr id="26" name="TextBox 25"/>
          <p:cNvSpPr txBox="1"/>
          <p:nvPr/>
        </p:nvSpPr>
        <p:spPr>
          <a:xfrm>
            <a:off x="4928616" y="3913632"/>
            <a:ext cx="3017520" cy="320040"/>
          </a:xfrm>
          <a:prstGeom prst="rect">
            <a:avLst/>
          </a:prstGeom>
          <a:noFill/>
        </p:spPr>
        <p:txBody>
          <a:bodyPr wrap="square">
            <a:spAutoFit/>
          </a:bodyPr>
          <a:lstStyle/>
          <a:p>
            <a:pPr algn="l"/>
            <a:r>
              <a:rPr sz="1200" b="1" i="0">
                <a:solidFill>
                  <a:srgbClr val="22C55E"/>
                </a:solidFill>
                <a:latin typeface="Calibri"/>
              </a:rPr>
              <a:t>Needs Counselor Integration</a:t>
            </a:r>
          </a:p>
        </p:txBody>
      </p:sp>
      <p:sp>
        <p:nvSpPr>
          <p:cNvPr id="27" name="TextBox 26"/>
          <p:cNvSpPr txBox="1"/>
          <p:nvPr/>
        </p:nvSpPr>
        <p:spPr>
          <a:xfrm>
            <a:off x="4407408" y="4370832"/>
            <a:ext cx="3566160" cy="1371600"/>
          </a:xfrm>
          <a:prstGeom prst="rect">
            <a:avLst/>
          </a:prstGeom>
          <a:noFill/>
        </p:spPr>
        <p:txBody>
          <a:bodyPr wrap="square">
            <a:spAutoFit/>
          </a:bodyPr>
          <a:lstStyle/>
          <a:p>
            <a:pPr algn="l"/>
            <a:r>
              <a:rPr sz="1050" b="0" i="0">
                <a:solidFill>
                  <a:srgbClr val="E8F0FE"/>
                </a:solidFill>
                <a:latin typeface="Calibri"/>
              </a:rPr>
              <a:t>Currently a standalone tool.
Real-world impact requires linking High Risk students to campus counselors.</a:t>
            </a:r>
          </a:p>
        </p:txBody>
      </p:sp>
      <p:sp>
        <p:nvSpPr>
          <p:cNvPr id="28" name="Rectangle 27"/>
          <p:cNvSpPr/>
          <p:nvPr/>
        </p:nvSpPr>
        <p:spPr>
          <a:xfrm>
            <a:off x="8220456" y="3776472"/>
            <a:ext cx="3794760" cy="2148840"/>
          </a:xfrm>
          <a:prstGeom prst="rect">
            <a:avLst/>
          </a:prstGeom>
          <a:solidFill>
            <a:srgbClr val="0E1623"/>
          </a:solidFill>
          <a:ln w="19050">
            <a:solidFill>
              <a:srgbClr val="7A8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57616" y="3886200"/>
            <a:ext cx="457200" cy="411480"/>
          </a:xfrm>
          <a:prstGeom prst="rect">
            <a:avLst/>
          </a:prstGeom>
          <a:noFill/>
        </p:spPr>
        <p:txBody>
          <a:bodyPr wrap="square">
            <a:spAutoFit/>
          </a:bodyPr>
          <a:lstStyle/>
          <a:p>
            <a:pPr algn="l"/>
            <a:r>
              <a:rPr sz="2600" b="0" i="0">
                <a:solidFill>
                  <a:srgbClr val="E8F0FE"/>
                </a:solidFill>
                <a:latin typeface="Calibri"/>
              </a:rPr>
              <a:t>⏱️</a:t>
            </a:r>
          </a:p>
        </p:txBody>
      </p:sp>
      <p:sp>
        <p:nvSpPr>
          <p:cNvPr id="30" name="TextBox 29"/>
          <p:cNvSpPr txBox="1"/>
          <p:nvPr/>
        </p:nvSpPr>
        <p:spPr>
          <a:xfrm>
            <a:off x="8878824" y="3913632"/>
            <a:ext cx="3017520" cy="320040"/>
          </a:xfrm>
          <a:prstGeom prst="rect">
            <a:avLst/>
          </a:prstGeom>
          <a:noFill/>
        </p:spPr>
        <p:txBody>
          <a:bodyPr wrap="square">
            <a:spAutoFit/>
          </a:bodyPr>
          <a:lstStyle/>
          <a:p>
            <a:pPr algn="l"/>
            <a:r>
              <a:rPr sz="1200" b="1" i="0">
                <a:solidFill>
                  <a:srgbClr val="7A8AA0"/>
                </a:solidFill>
                <a:latin typeface="Calibri"/>
              </a:rPr>
              <a:t>Cross-Sectional Snapshot</a:t>
            </a:r>
          </a:p>
        </p:txBody>
      </p:sp>
      <p:sp>
        <p:nvSpPr>
          <p:cNvPr id="31" name="TextBox 30"/>
          <p:cNvSpPr txBox="1"/>
          <p:nvPr/>
        </p:nvSpPr>
        <p:spPr>
          <a:xfrm>
            <a:off x="8357616" y="4370832"/>
            <a:ext cx="3566160" cy="1371600"/>
          </a:xfrm>
          <a:prstGeom prst="rect">
            <a:avLst/>
          </a:prstGeom>
          <a:noFill/>
        </p:spPr>
        <p:txBody>
          <a:bodyPr wrap="square">
            <a:spAutoFit/>
          </a:bodyPr>
          <a:lstStyle/>
          <a:p>
            <a:pPr algn="l"/>
            <a:r>
              <a:rPr sz="1050" b="0" i="0">
                <a:solidFill>
                  <a:srgbClr val="E8F0FE"/>
                </a:solidFill>
                <a:latin typeface="Calibri"/>
              </a:rPr>
              <a:t>One-time assessment only.
Cannot track how a student's risk changes over a semester.</a:t>
            </a:r>
          </a:p>
        </p:txBody>
      </p:sp>
      <p:sp>
        <p:nvSpPr>
          <p:cNvPr id="32" name="Rectangle 31"/>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34" name="TextBox 33"/>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10 /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64592"/>
            <a:ext cx="10972800" cy="256032"/>
          </a:xfrm>
          <a:prstGeom prst="rect">
            <a:avLst/>
          </a:prstGeom>
          <a:noFill/>
        </p:spPr>
        <p:txBody>
          <a:bodyPr wrap="square">
            <a:spAutoFit/>
          </a:bodyPr>
          <a:lstStyle/>
          <a:p>
            <a:pPr algn="l"/>
            <a:r>
              <a:rPr sz="900" b="1" i="0">
                <a:solidFill>
                  <a:srgbClr val="4FA3FF"/>
                </a:solidFill>
                <a:latin typeface="Calibri"/>
              </a:rPr>
              <a:t>09 · RESULTS &amp; FUTURE SCOPE</a:t>
            </a:r>
          </a:p>
        </p:txBody>
      </p:sp>
      <p:sp>
        <p:nvSpPr>
          <p:cNvPr id="5" name="TextBox 4"/>
          <p:cNvSpPr txBox="1"/>
          <p:nvPr/>
        </p:nvSpPr>
        <p:spPr>
          <a:xfrm>
            <a:off x="411480" y="420624"/>
            <a:ext cx="11338560" cy="329184"/>
          </a:xfrm>
          <a:prstGeom prst="rect">
            <a:avLst/>
          </a:prstGeom>
          <a:noFill/>
        </p:spPr>
        <p:txBody>
          <a:bodyPr wrap="square">
            <a:spAutoFit/>
          </a:bodyPr>
          <a:lstStyle/>
          <a:p>
            <a:pPr algn="l"/>
            <a:r>
              <a:rPr sz="1100" b="1" i="0">
                <a:solidFill>
                  <a:srgbClr val="7A8AA0"/>
                </a:solidFill>
                <a:latin typeface="Calibri"/>
              </a:rPr>
              <a:t>What Was Achieved + What's Next</a:t>
            </a:r>
          </a:p>
        </p:txBody>
      </p:sp>
      <p:sp>
        <p:nvSpPr>
          <p:cNvPr id="6" name="TextBox 5"/>
          <p:cNvSpPr txBox="1"/>
          <p:nvPr/>
        </p:nvSpPr>
        <p:spPr>
          <a:xfrm>
            <a:off x="411480" y="713232"/>
            <a:ext cx="11338560" cy="658368"/>
          </a:xfrm>
          <a:prstGeom prst="rect">
            <a:avLst/>
          </a:prstGeom>
          <a:noFill/>
        </p:spPr>
        <p:txBody>
          <a:bodyPr wrap="square">
            <a:spAutoFit/>
          </a:bodyPr>
          <a:lstStyle/>
          <a:p>
            <a:pPr algn="l"/>
            <a:r>
              <a:rPr sz="3000" b="1" i="0">
                <a:solidFill>
                  <a:srgbClr val="E8F0FE"/>
                </a:solidFill>
                <a:latin typeface="Calibri"/>
              </a:rPr>
              <a:t>Results Summary + Future Directions</a:t>
            </a:r>
          </a:p>
        </p:txBody>
      </p:sp>
      <p:sp>
        <p:nvSpPr>
          <p:cNvPr id="7" name="Rectangle 6"/>
          <p:cNvSpPr/>
          <p:nvPr/>
        </p:nvSpPr>
        <p:spPr>
          <a:xfrm>
            <a:off x="411480" y="1335024"/>
            <a:ext cx="548640"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444752"/>
            <a:ext cx="2788920" cy="1024128"/>
          </a:xfrm>
          <a:prstGeom prst="rect">
            <a:avLst/>
          </a:prstGeom>
          <a:solidFill>
            <a:srgbClr val="0E1623"/>
          </a:solidFill>
          <a:ln w="2286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536192"/>
            <a:ext cx="2788920" cy="548640"/>
          </a:xfrm>
          <a:prstGeom prst="rect">
            <a:avLst/>
          </a:prstGeom>
          <a:noFill/>
        </p:spPr>
        <p:txBody>
          <a:bodyPr wrap="square">
            <a:spAutoFit/>
          </a:bodyPr>
          <a:lstStyle/>
          <a:p>
            <a:pPr algn="ctr"/>
            <a:r>
              <a:rPr sz="2800" b="1" i="0">
                <a:solidFill>
                  <a:srgbClr val="4FA3FF"/>
                </a:solidFill>
                <a:latin typeface="Calibri"/>
              </a:rPr>
              <a:t>95.67%</a:t>
            </a:r>
          </a:p>
        </p:txBody>
      </p:sp>
      <p:sp>
        <p:nvSpPr>
          <p:cNvPr id="10" name="TextBox 9"/>
          <p:cNvSpPr txBox="1"/>
          <p:nvPr/>
        </p:nvSpPr>
        <p:spPr>
          <a:xfrm>
            <a:off x="320040" y="2121408"/>
            <a:ext cx="2788920" cy="237744"/>
          </a:xfrm>
          <a:prstGeom prst="rect">
            <a:avLst/>
          </a:prstGeom>
          <a:noFill/>
        </p:spPr>
        <p:txBody>
          <a:bodyPr wrap="square">
            <a:spAutoFit/>
          </a:bodyPr>
          <a:lstStyle/>
          <a:p>
            <a:pPr algn="ctr"/>
            <a:r>
              <a:rPr sz="1000" b="0" i="0">
                <a:solidFill>
                  <a:srgbClr val="7A8AA0"/>
                </a:solidFill>
                <a:latin typeface="Calibri"/>
              </a:rPr>
              <a:t>Test Accuracy</a:t>
            </a:r>
          </a:p>
        </p:txBody>
      </p:sp>
      <p:sp>
        <p:nvSpPr>
          <p:cNvPr id="11" name="Rectangle 10"/>
          <p:cNvSpPr/>
          <p:nvPr/>
        </p:nvSpPr>
        <p:spPr>
          <a:xfrm>
            <a:off x="3282696" y="1444752"/>
            <a:ext cx="2788920" cy="1024128"/>
          </a:xfrm>
          <a:prstGeom prst="rect">
            <a:avLst/>
          </a:prstGeom>
          <a:solidFill>
            <a:srgbClr val="0E1623"/>
          </a:solidFill>
          <a:ln w="2286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82696" y="1536192"/>
            <a:ext cx="2788920" cy="548640"/>
          </a:xfrm>
          <a:prstGeom prst="rect">
            <a:avLst/>
          </a:prstGeom>
          <a:noFill/>
        </p:spPr>
        <p:txBody>
          <a:bodyPr wrap="square">
            <a:spAutoFit/>
          </a:bodyPr>
          <a:lstStyle/>
          <a:p>
            <a:pPr algn="ctr"/>
            <a:r>
              <a:rPr sz="2800" b="1" i="0">
                <a:solidFill>
                  <a:srgbClr val="4FA3FF"/>
                </a:solidFill>
                <a:latin typeface="Calibri"/>
              </a:rPr>
              <a:t>95.65%</a:t>
            </a:r>
          </a:p>
        </p:txBody>
      </p:sp>
      <p:sp>
        <p:nvSpPr>
          <p:cNvPr id="13" name="TextBox 12"/>
          <p:cNvSpPr txBox="1"/>
          <p:nvPr/>
        </p:nvSpPr>
        <p:spPr>
          <a:xfrm>
            <a:off x="3282696" y="2121408"/>
            <a:ext cx="2788920" cy="237744"/>
          </a:xfrm>
          <a:prstGeom prst="rect">
            <a:avLst/>
          </a:prstGeom>
          <a:noFill/>
        </p:spPr>
        <p:txBody>
          <a:bodyPr wrap="square">
            <a:spAutoFit/>
          </a:bodyPr>
          <a:lstStyle/>
          <a:p>
            <a:pPr algn="ctr"/>
            <a:r>
              <a:rPr sz="1000" b="0" i="0">
                <a:solidFill>
                  <a:srgbClr val="7A8AA0"/>
                </a:solidFill>
                <a:latin typeface="Calibri"/>
              </a:rPr>
              <a:t>F1-Score</a:t>
            </a:r>
          </a:p>
        </p:txBody>
      </p:sp>
      <p:sp>
        <p:nvSpPr>
          <p:cNvPr id="14" name="Rectangle 13"/>
          <p:cNvSpPr/>
          <p:nvPr/>
        </p:nvSpPr>
        <p:spPr>
          <a:xfrm>
            <a:off x="6245352" y="1444752"/>
            <a:ext cx="2788920" cy="1024128"/>
          </a:xfrm>
          <a:prstGeom prst="rect">
            <a:avLst/>
          </a:prstGeom>
          <a:solidFill>
            <a:srgbClr val="0E1623"/>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45352" y="1536192"/>
            <a:ext cx="2788920" cy="548640"/>
          </a:xfrm>
          <a:prstGeom prst="rect">
            <a:avLst/>
          </a:prstGeom>
          <a:noFill/>
        </p:spPr>
        <p:txBody>
          <a:bodyPr wrap="square">
            <a:spAutoFit/>
          </a:bodyPr>
          <a:lstStyle/>
          <a:p>
            <a:pPr algn="ctr"/>
            <a:r>
              <a:rPr sz="2800" b="1" i="0">
                <a:solidFill>
                  <a:srgbClr val="F59E0B"/>
                </a:solidFill>
                <a:latin typeface="Calibri"/>
              </a:rPr>
              <a:t>91%</a:t>
            </a:r>
          </a:p>
        </p:txBody>
      </p:sp>
      <p:sp>
        <p:nvSpPr>
          <p:cNvPr id="16" name="TextBox 15"/>
          <p:cNvSpPr txBox="1"/>
          <p:nvPr/>
        </p:nvSpPr>
        <p:spPr>
          <a:xfrm>
            <a:off x="6245352" y="2121408"/>
            <a:ext cx="2788920" cy="237744"/>
          </a:xfrm>
          <a:prstGeom prst="rect">
            <a:avLst/>
          </a:prstGeom>
          <a:noFill/>
        </p:spPr>
        <p:txBody>
          <a:bodyPr wrap="square">
            <a:spAutoFit/>
          </a:bodyPr>
          <a:lstStyle/>
          <a:p>
            <a:pPr algn="ctr"/>
            <a:r>
              <a:rPr sz="1000" b="0" i="0">
                <a:solidFill>
                  <a:srgbClr val="7A8AA0"/>
                </a:solidFill>
                <a:latin typeface="Calibri"/>
              </a:rPr>
              <a:t>High Risk F1</a:t>
            </a:r>
          </a:p>
        </p:txBody>
      </p:sp>
      <p:sp>
        <p:nvSpPr>
          <p:cNvPr id="17" name="Rectangle 16"/>
          <p:cNvSpPr/>
          <p:nvPr/>
        </p:nvSpPr>
        <p:spPr>
          <a:xfrm>
            <a:off x="9208008" y="1444752"/>
            <a:ext cx="2788920" cy="1024128"/>
          </a:xfrm>
          <a:prstGeom prst="rect">
            <a:avLst/>
          </a:prstGeom>
          <a:solidFill>
            <a:srgbClr val="0E1623"/>
          </a:solidFill>
          <a:ln w="2286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08008" y="1536192"/>
            <a:ext cx="2788920" cy="548640"/>
          </a:xfrm>
          <a:prstGeom prst="rect">
            <a:avLst/>
          </a:prstGeom>
          <a:noFill/>
        </p:spPr>
        <p:txBody>
          <a:bodyPr wrap="square">
            <a:spAutoFit/>
          </a:bodyPr>
          <a:lstStyle/>
          <a:p>
            <a:pPr algn="ctr"/>
            <a:r>
              <a:rPr sz="2800" b="1" i="0">
                <a:solidFill>
                  <a:srgbClr val="A78BFA"/>
                </a:solidFill>
                <a:latin typeface="Calibri"/>
              </a:rPr>
              <a:t>1,151</a:t>
            </a:r>
          </a:p>
        </p:txBody>
      </p:sp>
      <p:sp>
        <p:nvSpPr>
          <p:cNvPr id="19" name="TextBox 18"/>
          <p:cNvSpPr txBox="1"/>
          <p:nvPr/>
        </p:nvSpPr>
        <p:spPr>
          <a:xfrm>
            <a:off x="9208008" y="2121408"/>
            <a:ext cx="2788920" cy="237744"/>
          </a:xfrm>
          <a:prstGeom prst="rect">
            <a:avLst/>
          </a:prstGeom>
          <a:noFill/>
        </p:spPr>
        <p:txBody>
          <a:bodyPr wrap="square">
            <a:spAutoFit/>
          </a:bodyPr>
          <a:lstStyle/>
          <a:p>
            <a:pPr algn="ctr"/>
            <a:r>
              <a:rPr sz="1000" b="0" i="0">
                <a:solidFill>
                  <a:srgbClr val="7A8AA0"/>
                </a:solidFill>
                <a:latin typeface="Calibri"/>
              </a:rPr>
              <a:t>Students</a:t>
            </a:r>
          </a:p>
        </p:txBody>
      </p:sp>
      <p:sp>
        <p:nvSpPr>
          <p:cNvPr id="20" name="Rectangle 19"/>
          <p:cNvSpPr/>
          <p:nvPr/>
        </p:nvSpPr>
        <p:spPr>
          <a:xfrm>
            <a:off x="320040" y="2606040"/>
            <a:ext cx="5394960" cy="3474720"/>
          </a:xfrm>
          <a:prstGeom prst="rect">
            <a:avLst/>
          </a:prstGeom>
          <a:solidFill>
            <a:srgbClr val="0E1623"/>
          </a:solidFill>
          <a:ln w="7620">
            <a:solidFill>
              <a:srgbClr val="1E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2715768"/>
            <a:ext cx="5166360" cy="274320"/>
          </a:xfrm>
          <a:prstGeom prst="rect">
            <a:avLst/>
          </a:prstGeom>
          <a:noFill/>
        </p:spPr>
        <p:txBody>
          <a:bodyPr wrap="square">
            <a:spAutoFit/>
          </a:bodyPr>
          <a:lstStyle/>
          <a:p>
            <a:pPr algn="l"/>
            <a:r>
              <a:rPr sz="1200" b="1" i="0">
                <a:solidFill>
                  <a:srgbClr val="22C55E"/>
                </a:solidFill>
                <a:latin typeface="Calibri"/>
              </a:rPr>
              <a:t>✅  All Deliverables Completed</a:t>
            </a:r>
          </a:p>
        </p:txBody>
      </p:sp>
      <p:sp>
        <p:nvSpPr>
          <p:cNvPr id="22" name="TextBox 21"/>
          <p:cNvSpPr txBox="1"/>
          <p:nvPr/>
        </p:nvSpPr>
        <p:spPr>
          <a:xfrm>
            <a:off x="475488" y="3044952"/>
            <a:ext cx="5166360" cy="274320"/>
          </a:xfrm>
          <a:prstGeom prst="rect">
            <a:avLst/>
          </a:prstGeom>
          <a:noFill/>
        </p:spPr>
        <p:txBody>
          <a:bodyPr wrap="square">
            <a:spAutoFit/>
          </a:bodyPr>
          <a:lstStyle/>
          <a:p>
            <a:pPr algn="l"/>
            <a:r>
              <a:rPr sz="1100" b="0" i="0">
                <a:solidFill>
                  <a:srgbClr val="E8F0FE"/>
                </a:solidFill>
                <a:latin typeface="Calibri"/>
              </a:rPr>
              <a:t>▸  1,151-student primary dataset (original research)</a:t>
            </a:r>
          </a:p>
        </p:txBody>
      </p:sp>
      <p:sp>
        <p:nvSpPr>
          <p:cNvPr id="23" name="TextBox 22"/>
          <p:cNvSpPr txBox="1"/>
          <p:nvPr/>
        </p:nvSpPr>
        <p:spPr>
          <a:xfrm>
            <a:off x="475488" y="3319272"/>
            <a:ext cx="5166360" cy="274320"/>
          </a:xfrm>
          <a:prstGeom prst="rect">
            <a:avLst/>
          </a:prstGeom>
          <a:noFill/>
        </p:spPr>
        <p:txBody>
          <a:bodyPr wrap="square">
            <a:spAutoFit/>
          </a:bodyPr>
          <a:lstStyle/>
          <a:p>
            <a:pPr algn="l"/>
            <a:r>
              <a:rPr sz="1100" b="0" i="0">
                <a:solidFill>
                  <a:srgbClr val="E8F0FE"/>
                </a:solidFill>
                <a:latin typeface="Calibri"/>
              </a:rPr>
              <a:t>▸  4 ML models trained &amp; compared with 5-fold CV</a:t>
            </a:r>
          </a:p>
        </p:txBody>
      </p:sp>
      <p:sp>
        <p:nvSpPr>
          <p:cNvPr id="24" name="TextBox 23"/>
          <p:cNvSpPr txBox="1"/>
          <p:nvPr/>
        </p:nvSpPr>
        <p:spPr>
          <a:xfrm>
            <a:off x="475488" y="3593592"/>
            <a:ext cx="5166360" cy="274320"/>
          </a:xfrm>
          <a:prstGeom prst="rect">
            <a:avLst/>
          </a:prstGeom>
          <a:noFill/>
        </p:spPr>
        <p:txBody>
          <a:bodyPr wrap="square">
            <a:spAutoFit/>
          </a:bodyPr>
          <a:lstStyle/>
          <a:p>
            <a:pPr algn="l"/>
            <a:r>
              <a:rPr sz="1100" b="0" i="0">
                <a:solidFill>
                  <a:srgbClr val="E8F0FE"/>
                </a:solidFill>
                <a:latin typeface="Calibri"/>
              </a:rPr>
              <a:t>▸  SHAP explainability — 4 charts generated</a:t>
            </a:r>
          </a:p>
        </p:txBody>
      </p:sp>
      <p:sp>
        <p:nvSpPr>
          <p:cNvPr id="25" name="TextBox 24"/>
          <p:cNvSpPr txBox="1"/>
          <p:nvPr/>
        </p:nvSpPr>
        <p:spPr>
          <a:xfrm>
            <a:off x="475488" y="3867912"/>
            <a:ext cx="5166360" cy="274320"/>
          </a:xfrm>
          <a:prstGeom prst="rect">
            <a:avLst/>
          </a:prstGeom>
          <a:noFill/>
        </p:spPr>
        <p:txBody>
          <a:bodyPr wrap="square">
            <a:spAutoFit/>
          </a:bodyPr>
          <a:lstStyle/>
          <a:p>
            <a:pPr algn="l"/>
            <a:r>
              <a:rPr sz="1100" b="0" i="0">
                <a:solidFill>
                  <a:srgbClr val="E8F0FE"/>
                </a:solidFill>
                <a:latin typeface="Calibri"/>
              </a:rPr>
              <a:t>▸  SMOTE applied (training data only)</a:t>
            </a:r>
          </a:p>
        </p:txBody>
      </p:sp>
      <p:sp>
        <p:nvSpPr>
          <p:cNvPr id="26" name="TextBox 25"/>
          <p:cNvSpPr txBox="1"/>
          <p:nvPr/>
        </p:nvSpPr>
        <p:spPr>
          <a:xfrm>
            <a:off x="475488" y="4142232"/>
            <a:ext cx="5166360" cy="274320"/>
          </a:xfrm>
          <a:prstGeom prst="rect">
            <a:avLst/>
          </a:prstGeom>
          <a:noFill/>
        </p:spPr>
        <p:txBody>
          <a:bodyPr wrap="square">
            <a:spAutoFit/>
          </a:bodyPr>
          <a:lstStyle/>
          <a:p>
            <a:pPr algn="l"/>
            <a:r>
              <a:rPr sz="1100" b="0" i="0">
                <a:solidFill>
                  <a:srgbClr val="E8F0FE"/>
                </a:solidFill>
                <a:latin typeface="Calibri"/>
              </a:rPr>
              <a:t>▸  GAD-7 inspired anxiety estimation</a:t>
            </a:r>
          </a:p>
        </p:txBody>
      </p:sp>
      <p:sp>
        <p:nvSpPr>
          <p:cNvPr id="27" name="TextBox 26"/>
          <p:cNvSpPr txBox="1"/>
          <p:nvPr/>
        </p:nvSpPr>
        <p:spPr>
          <a:xfrm>
            <a:off x="475488" y="4416552"/>
            <a:ext cx="5166360" cy="274320"/>
          </a:xfrm>
          <a:prstGeom prst="rect">
            <a:avLst/>
          </a:prstGeom>
          <a:noFill/>
        </p:spPr>
        <p:txBody>
          <a:bodyPr wrap="square">
            <a:spAutoFit/>
          </a:bodyPr>
          <a:lstStyle/>
          <a:p>
            <a:pPr algn="l"/>
            <a:r>
              <a:rPr sz="1100" b="0" i="0">
                <a:solidFill>
                  <a:srgbClr val="E8F0FE"/>
                </a:solidFill>
                <a:latin typeface="Calibri"/>
              </a:rPr>
              <a:t>▸  Full-stack Flask web app — publicly deployed</a:t>
            </a:r>
          </a:p>
        </p:txBody>
      </p:sp>
      <p:sp>
        <p:nvSpPr>
          <p:cNvPr id="28" name="TextBox 27"/>
          <p:cNvSpPr txBox="1"/>
          <p:nvPr/>
        </p:nvSpPr>
        <p:spPr>
          <a:xfrm>
            <a:off x="475488" y="4690872"/>
            <a:ext cx="5166360" cy="274320"/>
          </a:xfrm>
          <a:prstGeom prst="rect">
            <a:avLst/>
          </a:prstGeom>
          <a:noFill/>
        </p:spPr>
        <p:txBody>
          <a:bodyPr wrap="square">
            <a:spAutoFit/>
          </a:bodyPr>
          <a:lstStyle/>
          <a:p>
            <a:pPr algn="l"/>
            <a:r>
              <a:rPr sz="1100" b="0" i="0">
                <a:solidFill>
                  <a:srgbClr val="E8F0FE"/>
                </a:solidFill>
                <a:latin typeface="Calibri"/>
              </a:rPr>
              <a:t>▸  16-reference peer-reviewed bibliography</a:t>
            </a:r>
          </a:p>
        </p:txBody>
      </p:sp>
      <p:sp>
        <p:nvSpPr>
          <p:cNvPr id="29" name="Rectangle 28"/>
          <p:cNvSpPr/>
          <p:nvPr/>
        </p:nvSpPr>
        <p:spPr>
          <a:xfrm>
            <a:off x="6035040" y="2606040"/>
            <a:ext cx="5833872" cy="3474720"/>
          </a:xfrm>
          <a:prstGeom prst="rect">
            <a:avLst/>
          </a:prstGeom>
          <a:solidFill>
            <a:srgbClr val="0E1623"/>
          </a:solidFill>
          <a:ln w="7620">
            <a:solidFill>
              <a:srgbClr val="1E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99632" y="2715768"/>
            <a:ext cx="5596128" cy="274320"/>
          </a:xfrm>
          <a:prstGeom prst="rect">
            <a:avLst/>
          </a:prstGeom>
          <a:noFill/>
        </p:spPr>
        <p:txBody>
          <a:bodyPr wrap="square">
            <a:spAutoFit/>
          </a:bodyPr>
          <a:lstStyle/>
          <a:p>
            <a:pPr algn="l"/>
            <a:r>
              <a:rPr sz="1200" b="1" i="0">
                <a:solidFill>
                  <a:srgbClr val="A78BFA"/>
                </a:solidFill>
                <a:latin typeface="Calibri"/>
              </a:rPr>
              <a:t>🔭  Future Scope</a:t>
            </a:r>
          </a:p>
        </p:txBody>
      </p:sp>
      <p:sp>
        <p:nvSpPr>
          <p:cNvPr id="31" name="TextBox 30"/>
          <p:cNvSpPr txBox="1"/>
          <p:nvPr/>
        </p:nvSpPr>
        <p:spPr>
          <a:xfrm>
            <a:off x="6199632" y="3044952"/>
            <a:ext cx="5596128" cy="274320"/>
          </a:xfrm>
          <a:prstGeom prst="rect">
            <a:avLst/>
          </a:prstGeom>
          <a:noFill/>
        </p:spPr>
        <p:txBody>
          <a:bodyPr wrap="square">
            <a:spAutoFit/>
          </a:bodyPr>
          <a:lstStyle/>
          <a:p>
            <a:pPr algn="l"/>
            <a:r>
              <a:rPr sz="1100" b="1" i="0">
                <a:solidFill>
                  <a:srgbClr val="F59E0B"/>
                </a:solidFill>
                <a:latin typeface="Calibri"/>
              </a:rPr>
              <a:t>▸  Counselor referral integration (highest priority)</a:t>
            </a:r>
          </a:p>
        </p:txBody>
      </p:sp>
      <p:sp>
        <p:nvSpPr>
          <p:cNvPr id="32" name="TextBox 31"/>
          <p:cNvSpPr txBox="1"/>
          <p:nvPr/>
        </p:nvSpPr>
        <p:spPr>
          <a:xfrm>
            <a:off x="6199632" y="3319272"/>
            <a:ext cx="5596128" cy="274320"/>
          </a:xfrm>
          <a:prstGeom prst="rect">
            <a:avLst/>
          </a:prstGeom>
          <a:noFill/>
        </p:spPr>
        <p:txBody>
          <a:bodyPr wrap="square">
            <a:spAutoFit/>
          </a:bodyPr>
          <a:lstStyle/>
          <a:p>
            <a:pPr algn="l"/>
            <a:r>
              <a:rPr sz="1100" b="0" i="0">
                <a:solidFill>
                  <a:srgbClr val="E8F0FE"/>
                </a:solidFill>
                <a:latin typeface="Calibri"/>
              </a:rPr>
              <a:t>▸  NLP-based journaling + sentiment analysis</a:t>
            </a:r>
          </a:p>
        </p:txBody>
      </p:sp>
      <p:sp>
        <p:nvSpPr>
          <p:cNvPr id="33" name="TextBox 32"/>
          <p:cNvSpPr txBox="1"/>
          <p:nvPr/>
        </p:nvSpPr>
        <p:spPr>
          <a:xfrm>
            <a:off x="6199632" y="3593592"/>
            <a:ext cx="5596128" cy="274320"/>
          </a:xfrm>
          <a:prstGeom prst="rect">
            <a:avLst/>
          </a:prstGeom>
          <a:noFill/>
        </p:spPr>
        <p:txBody>
          <a:bodyPr wrap="square">
            <a:spAutoFit/>
          </a:bodyPr>
          <a:lstStyle/>
          <a:p>
            <a:pPr algn="l"/>
            <a:r>
              <a:rPr sz="1100" b="0" i="0">
                <a:solidFill>
                  <a:srgbClr val="E8F0FE"/>
                </a:solidFill>
                <a:latin typeface="Calibri"/>
              </a:rPr>
              <a:t>▸  Daily micro-assessments (30-sec emoji check-ins)</a:t>
            </a:r>
          </a:p>
        </p:txBody>
      </p:sp>
      <p:sp>
        <p:nvSpPr>
          <p:cNvPr id="34" name="TextBox 33"/>
          <p:cNvSpPr txBox="1"/>
          <p:nvPr/>
        </p:nvSpPr>
        <p:spPr>
          <a:xfrm>
            <a:off x="6199632" y="3867912"/>
            <a:ext cx="5596128" cy="274320"/>
          </a:xfrm>
          <a:prstGeom prst="rect">
            <a:avLst/>
          </a:prstGeom>
          <a:noFill/>
        </p:spPr>
        <p:txBody>
          <a:bodyPr wrap="square">
            <a:spAutoFit/>
          </a:bodyPr>
          <a:lstStyle/>
          <a:p>
            <a:pPr algn="l"/>
            <a:r>
              <a:rPr sz="1100" b="0" i="0">
                <a:solidFill>
                  <a:srgbClr val="E8F0FE"/>
                </a:solidFill>
                <a:latin typeface="Calibri"/>
              </a:rPr>
              <a:t>▸  Full validated GAD-7 questionnaire</a:t>
            </a:r>
          </a:p>
        </p:txBody>
      </p:sp>
      <p:sp>
        <p:nvSpPr>
          <p:cNvPr id="35" name="TextBox 34"/>
          <p:cNvSpPr txBox="1"/>
          <p:nvPr/>
        </p:nvSpPr>
        <p:spPr>
          <a:xfrm>
            <a:off x="6199632" y="4142232"/>
            <a:ext cx="5596128" cy="274320"/>
          </a:xfrm>
          <a:prstGeom prst="rect">
            <a:avLst/>
          </a:prstGeom>
          <a:noFill/>
        </p:spPr>
        <p:txBody>
          <a:bodyPr wrap="square">
            <a:spAutoFit/>
          </a:bodyPr>
          <a:lstStyle/>
          <a:p>
            <a:pPr algn="l"/>
            <a:r>
              <a:rPr sz="1100" b="0" i="0">
                <a:solidFill>
                  <a:srgbClr val="E8F0FE"/>
                </a:solidFill>
                <a:latin typeface="Calibri"/>
              </a:rPr>
              <a:t>▸  Multi-university dataset for India-wide model</a:t>
            </a:r>
          </a:p>
        </p:txBody>
      </p:sp>
      <p:sp>
        <p:nvSpPr>
          <p:cNvPr id="36" name="TextBox 35"/>
          <p:cNvSpPr txBox="1"/>
          <p:nvPr/>
        </p:nvSpPr>
        <p:spPr>
          <a:xfrm>
            <a:off x="6199632" y="4416552"/>
            <a:ext cx="5596128" cy="274320"/>
          </a:xfrm>
          <a:prstGeom prst="rect">
            <a:avLst/>
          </a:prstGeom>
          <a:noFill/>
        </p:spPr>
        <p:txBody>
          <a:bodyPr wrap="square">
            <a:spAutoFit/>
          </a:bodyPr>
          <a:lstStyle/>
          <a:p>
            <a:pPr algn="l"/>
            <a:r>
              <a:rPr sz="1100" b="0" i="0">
                <a:solidFill>
                  <a:srgbClr val="E8F0FE"/>
                </a:solidFill>
                <a:latin typeface="Calibri"/>
              </a:rPr>
              <a:t>▸  Progressive Web App (mobile installable)</a:t>
            </a:r>
          </a:p>
        </p:txBody>
      </p:sp>
      <p:sp>
        <p:nvSpPr>
          <p:cNvPr id="37" name="Rectangle 36"/>
          <p:cNvSpPr/>
          <p:nvPr/>
        </p:nvSpPr>
        <p:spPr>
          <a:xfrm>
            <a:off x="320040" y="6199632"/>
            <a:ext cx="11548872" cy="457200"/>
          </a:xfrm>
          <a:prstGeom prst="rect">
            <a:avLst/>
          </a:prstGeom>
          <a:solidFill>
            <a:srgbClr val="081828"/>
          </a:solidFill>
          <a:ln w="1270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2920" y="6281928"/>
            <a:ext cx="11201400" cy="310896"/>
          </a:xfrm>
          <a:prstGeom prst="rect">
            <a:avLst/>
          </a:prstGeom>
          <a:noFill/>
        </p:spPr>
        <p:txBody>
          <a:bodyPr wrap="square">
            <a:spAutoFit/>
          </a:bodyPr>
          <a:lstStyle/>
          <a:p>
            <a:pPr algn="l"/>
            <a:r>
              <a:rPr sz="1100" b="1" i="0">
                <a:solidFill>
                  <a:srgbClr val="E8F0FE"/>
                </a:solidFill>
                <a:latin typeface="Calibri"/>
              </a:rPr>
              <a:t>Research Contribution:  A system combining PHQ-9, lifestyle data, SHAP explainability, and live deployment — designed for Indian university students.</a:t>
            </a:r>
          </a:p>
        </p:txBody>
      </p:sp>
      <p:sp>
        <p:nvSpPr>
          <p:cNvPr id="39" name="Rectangle 38"/>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41" name="TextBox 40"/>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11 /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81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858000"/>
          </a:xfrm>
          <a:prstGeom prst="rect">
            <a:avLst/>
          </a:prstGeom>
          <a:solidFill>
            <a:srgbClr val="0A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54864"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74920" y="594360"/>
            <a:ext cx="2286000" cy="914400"/>
          </a:xfrm>
          <a:prstGeom prst="rect">
            <a:avLst/>
          </a:prstGeom>
          <a:noFill/>
        </p:spPr>
        <p:txBody>
          <a:bodyPr wrap="square">
            <a:spAutoFit/>
          </a:bodyPr>
          <a:lstStyle/>
          <a:p>
            <a:pPr algn="ctr"/>
            <a:r>
              <a:rPr sz="5800" b="0" i="0">
                <a:solidFill>
                  <a:srgbClr val="E8F0FE"/>
                </a:solidFill>
                <a:latin typeface="Calibri"/>
              </a:rPr>
              <a:t>🧠</a:t>
            </a:r>
          </a:p>
        </p:txBody>
      </p:sp>
      <p:sp>
        <p:nvSpPr>
          <p:cNvPr id="7" name="TextBox 6"/>
          <p:cNvSpPr txBox="1"/>
          <p:nvPr/>
        </p:nvSpPr>
        <p:spPr>
          <a:xfrm>
            <a:off x="1828800" y="1508760"/>
            <a:ext cx="8229600" cy="1005840"/>
          </a:xfrm>
          <a:prstGeom prst="rect">
            <a:avLst/>
          </a:prstGeom>
          <a:noFill/>
        </p:spPr>
        <p:txBody>
          <a:bodyPr wrap="square">
            <a:spAutoFit/>
          </a:bodyPr>
          <a:lstStyle/>
          <a:p>
            <a:pPr algn="ctr"/>
            <a:r>
              <a:rPr sz="5400" b="1">
                <a:solidFill>
                  <a:srgbClr val="E8F0FE"/>
                </a:solidFill>
                <a:latin typeface="Calibri"/>
              </a:rPr>
              <a:t>Thank </a:t>
            </a:r>
            <a:r>
              <a:rPr sz="5400" b="1">
                <a:solidFill>
                  <a:srgbClr val="4FA3FF"/>
                </a:solidFill>
                <a:latin typeface="Calibri"/>
              </a:rPr>
              <a:t>You</a:t>
            </a:r>
          </a:p>
        </p:txBody>
      </p:sp>
      <p:sp>
        <p:nvSpPr>
          <p:cNvPr id="8" name="TextBox 7"/>
          <p:cNvSpPr txBox="1"/>
          <p:nvPr/>
        </p:nvSpPr>
        <p:spPr>
          <a:xfrm>
            <a:off x="2743200" y="2578608"/>
            <a:ext cx="6400800" cy="365760"/>
          </a:xfrm>
          <a:prstGeom prst="rect">
            <a:avLst/>
          </a:prstGeom>
          <a:noFill/>
        </p:spPr>
        <p:txBody>
          <a:bodyPr wrap="square">
            <a:spAutoFit/>
          </a:bodyPr>
          <a:lstStyle/>
          <a:p>
            <a:pPr algn="ctr"/>
            <a:r>
              <a:rPr sz="1800" b="0" i="0">
                <a:solidFill>
                  <a:srgbClr val="7A8AA0"/>
                </a:solidFill>
                <a:latin typeface="Calibri"/>
              </a:rPr>
              <a:t>Questions &amp; Discussion</a:t>
            </a:r>
          </a:p>
        </p:txBody>
      </p:sp>
      <p:sp>
        <p:nvSpPr>
          <p:cNvPr id="9" name="Rectangle 8"/>
          <p:cNvSpPr/>
          <p:nvPr/>
        </p:nvSpPr>
        <p:spPr>
          <a:xfrm>
            <a:off x="320040" y="3090672"/>
            <a:ext cx="11567160" cy="36576"/>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645920" y="3273552"/>
            <a:ext cx="8778240" cy="457200"/>
          </a:xfrm>
          <a:prstGeom prst="rect">
            <a:avLst/>
          </a:prstGeom>
          <a:solidFill>
            <a:srgbClr val="08182E"/>
          </a:solidFill>
          <a:ln w="1524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11680" y="3346704"/>
            <a:ext cx="8229600" cy="320040"/>
          </a:xfrm>
          <a:prstGeom prst="rect">
            <a:avLst/>
          </a:prstGeom>
          <a:noFill/>
        </p:spPr>
        <p:txBody>
          <a:bodyPr wrap="square">
            <a:spAutoFit/>
          </a:bodyPr>
          <a:lstStyle/>
          <a:p>
            <a:pPr algn="ctr"/>
            <a:r>
              <a:rPr sz="1400" b="1" i="0">
                <a:solidFill>
                  <a:srgbClr val="4FA3FF"/>
                </a:solidFill>
                <a:latin typeface="Calibri"/>
              </a:rPr>
              <a:t>🔴  Publicly Deployed:  mental-health-predictor-0oat.onrender.com</a:t>
            </a:r>
          </a:p>
        </p:txBody>
      </p:sp>
      <p:sp>
        <p:nvSpPr>
          <p:cNvPr id="12" name="Rectangle 11"/>
          <p:cNvSpPr/>
          <p:nvPr/>
        </p:nvSpPr>
        <p:spPr>
          <a:xfrm>
            <a:off x="1097280" y="3913632"/>
            <a:ext cx="2697480" cy="384048"/>
          </a:xfrm>
          <a:prstGeom prst="rect">
            <a:avLst/>
          </a:prstGeom>
          <a:solidFill>
            <a:srgbClr val="0E1623"/>
          </a:solidFill>
          <a:ln w="6350">
            <a:solidFill>
              <a:srgbClr val="1E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3959352"/>
            <a:ext cx="2542032" cy="292608"/>
          </a:xfrm>
          <a:prstGeom prst="rect">
            <a:avLst/>
          </a:prstGeom>
          <a:noFill/>
        </p:spPr>
        <p:txBody>
          <a:bodyPr wrap="square">
            <a:spAutoFit/>
          </a:bodyPr>
          <a:lstStyle/>
          <a:p>
            <a:pPr algn="ctr"/>
            <a:r>
              <a:rPr sz="1100" b="0" i="0">
                <a:solidFill>
                  <a:srgbClr val="7A8AA0"/>
                </a:solidFill>
                <a:latin typeface="Calibri"/>
              </a:rPr>
              <a:t>👩‍💻  Priyanshi Goel</a:t>
            </a:r>
          </a:p>
        </p:txBody>
      </p:sp>
      <p:sp>
        <p:nvSpPr>
          <p:cNvPr id="14" name="Rectangle 13"/>
          <p:cNvSpPr/>
          <p:nvPr/>
        </p:nvSpPr>
        <p:spPr>
          <a:xfrm>
            <a:off x="4160520" y="3913632"/>
            <a:ext cx="2697480" cy="384048"/>
          </a:xfrm>
          <a:prstGeom prst="rect">
            <a:avLst/>
          </a:prstGeom>
          <a:solidFill>
            <a:srgbClr val="0E1623"/>
          </a:solidFill>
          <a:ln w="6350">
            <a:solidFill>
              <a:srgbClr val="1E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60" y="3959352"/>
            <a:ext cx="2542032" cy="292608"/>
          </a:xfrm>
          <a:prstGeom prst="rect">
            <a:avLst/>
          </a:prstGeom>
          <a:noFill/>
        </p:spPr>
        <p:txBody>
          <a:bodyPr wrap="square">
            <a:spAutoFit/>
          </a:bodyPr>
          <a:lstStyle/>
          <a:p>
            <a:pPr algn="ctr"/>
            <a:r>
              <a:rPr sz="1100" b="0" i="0">
                <a:solidFill>
                  <a:srgbClr val="7A8AA0"/>
                </a:solidFill>
                <a:latin typeface="Calibri"/>
              </a:rPr>
              <a:t>🎓  DS4270 · MUJ · 2026</a:t>
            </a:r>
          </a:p>
        </p:txBody>
      </p:sp>
      <p:sp>
        <p:nvSpPr>
          <p:cNvPr id="16" name="Rectangle 15"/>
          <p:cNvSpPr/>
          <p:nvPr/>
        </p:nvSpPr>
        <p:spPr>
          <a:xfrm>
            <a:off x="7589520" y="3913632"/>
            <a:ext cx="2697480" cy="384048"/>
          </a:xfrm>
          <a:prstGeom prst="rect">
            <a:avLst/>
          </a:prstGeom>
          <a:solidFill>
            <a:srgbClr val="0E1623"/>
          </a:solidFill>
          <a:ln w="6350">
            <a:solidFill>
              <a:srgbClr val="1E3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0" y="3959352"/>
            <a:ext cx="2542032" cy="292608"/>
          </a:xfrm>
          <a:prstGeom prst="rect">
            <a:avLst/>
          </a:prstGeom>
          <a:noFill/>
        </p:spPr>
        <p:txBody>
          <a:bodyPr wrap="square">
            <a:spAutoFit/>
          </a:bodyPr>
          <a:lstStyle/>
          <a:p>
            <a:pPr algn="ctr"/>
            <a:r>
              <a:rPr sz="1100" b="0" i="0">
                <a:solidFill>
                  <a:srgbClr val="7A8AA0"/>
                </a:solidFill>
                <a:latin typeface="Calibri"/>
              </a:rPr>
              <a:t>🧑‍🏫  Dr. Aparna Tripathi</a:t>
            </a:r>
          </a:p>
        </p:txBody>
      </p:sp>
      <p:sp>
        <p:nvSpPr>
          <p:cNvPr id="18" name="Rectangle 17"/>
          <p:cNvSpPr/>
          <p:nvPr/>
        </p:nvSpPr>
        <p:spPr>
          <a:xfrm>
            <a:off x="1097280" y="4526280"/>
            <a:ext cx="2377440" cy="1325880"/>
          </a:xfrm>
          <a:prstGeom prst="rect">
            <a:avLst/>
          </a:prstGeom>
          <a:solidFill>
            <a:srgbClr val="0E1623"/>
          </a:solidFill>
          <a:ln w="190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4626864"/>
            <a:ext cx="2377440" cy="658368"/>
          </a:xfrm>
          <a:prstGeom prst="rect">
            <a:avLst/>
          </a:prstGeom>
          <a:noFill/>
        </p:spPr>
        <p:txBody>
          <a:bodyPr wrap="square">
            <a:spAutoFit/>
          </a:bodyPr>
          <a:lstStyle/>
          <a:p>
            <a:pPr algn="ctr"/>
            <a:r>
              <a:rPr sz="2600" b="1" i="0">
                <a:solidFill>
                  <a:srgbClr val="4FA3FF"/>
                </a:solidFill>
                <a:latin typeface="Calibri"/>
              </a:rPr>
              <a:t>95.67%</a:t>
            </a:r>
          </a:p>
        </p:txBody>
      </p:sp>
      <p:sp>
        <p:nvSpPr>
          <p:cNvPr id="20" name="TextBox 19"/>
          <p:cNvSpPr txBox="1"/>
          <p:nvPr/>
        </p:nvSpPr>
        <p:spPr>
          <a:xfrm>
            <a:off x="1097280" y="5321808"/>
            <a:ext cx="2377440" cy="237744"/>
          </a:xfrm>
          <a:prstGeom prst="rect">
            <a:avLst/>
          </a:prstGeom>
          <a:noFill/>
        </p:spPr>
        <p:txBody>
          <a:bodyPr wrap="square">
            <a:spAutoFit/>
          </a:bodyPr>
          <a:lstStyle/>
          <a:p>
            <a:pPr algn="ctr"/>
            <a:r>
              <a:rPr sz="1000" b="0" i="0">
                <a:solidFill>
                  <a:srgbClr val="7A8AA0"/>
                </a:solidFill>
                <a:latin typeface="Calibri"/>
              </a:rPr>
              <a:t>Accuracy</a:t>
            </a:r>
          </a:p>
        </p:txBody>
      </p:sp>
      <p:sp>
        <p:nvSpPr>
          <p:cNvPr id="21" name="Rectangle 20"/>
          <p:cNvSpPr/>
          <p:nvPr/>
        </p:nvSpPr>
        <p:spPr>
          <a:xfrm>
            <a:off x="3611880" y="4526280"/>
            <a:ext cx="2377440" cy="1325880"/>
          </a:xfrm>
          <a:prstGeom prst="rect">
            <a:avLst/>
          </a:prstGeom>
          <a:solidFill>
            <a:srgbClr val="0E1623"/>
          </a:solidFill>
          <a:ln w="19050">
            <a:solidFill>
              <a:srgbClr val="4F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11880" y="4626864"/>
            <a:ext cx="2377440" cy="658368"/>
          </a:xfrm>
          <a:prstGeom prst="rect">
            <a:avLst/>
          </a:prstGeom>
          <a:noFill/>
        </p:spPr>
        <p:txBody>
          <a:bodyPr wrap="square">
            <a:spAutoFit/>
          </a:bodyPr>
          <a:lstStyle/>
          <a:p>
            <a:pPr algn="ctr"/>
            <a:r>
              <a:rPr sz="2600" b="1" i="0">
                <a:solidFill>
                  <a:srgbClr val="4FA3FF"/>
                </a:solidFill>
                <a:latin typeface="Calibri"/>
              </a:rPr>
              <a:t>95.65%</a:t>
            </a:r>
          </a:p>
        </p:txBody>
      </p:sp>
      <p:sp>
        <p:nvSpPr>
          <p:cNvPr id="23" name="TextBox 22"/>
          <p:cNvSpPr txBox="1"/>
          <p:nvPr/>
        </p:nvSpPr>
        <p:spPr>
          <a:xfrm>
            <a:off x="3611880" y="5321808"/>
            <a:ext cx="2377440" cy="237744"/>
          </a:xfrm>
          <a:prstGeom prst="rect">
            <a:avLst/>
          </a:prstGeom>
          <a:noFill/>
        </p:spPr>
        <p:txBody>
          <a:bodyPr wrap="square">
            <a:spAutoFit/>
          </a:bodyPr>
          <a:lstStyle/>
          <a:p>
            <a:pPr algn="ctr"/>
            <a:r>
              <a:rPr sz="1000" b="0" i="0">
                <a:solidFill>
                  <a:srgbClr val="7A8AA0"/>
                </a:solidFill>
                <a:latin typeface="Calibri"/>
              </a:rPr>
              <a:t>F1-Score</a:t>
            </a:r>
          </a:p>
        </p:txBody>
      </p:sp>
      <p:sp>
        <p:nvSpPr>
          <p:cNvPr id="24" name="Rectangle 23"/>
          <p:cNvSpPr/>
          <p:nvPr/>
        </p:nvSpPr>
        <p:spPr>
          <a:xfrm>
            <a:off x="6126480" y="4526280"/>
            <a:ext cx="2377440" cy="1325880"/>
          </a:xfrm>
          <a:prstGeom prst="rect">
            <a:avLst/>
          </a:prstGeom>
          <a:solidFill>
            <a:srgbClr val="0E1623"/>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26480" y="4626864"/>
            <a:ext cx="2377440" cy="658368"/>
          </a:xfrm>
          <a:prstGeom prst="rect">
            <a:avLst/>
          </a:prstGeom>
          <a:noFill/>
        </p:spPr>
        <p:txBody>
          <a:bodyPr wrap="square">
            <a:spAutoFit/>
          </a:bodyPr>
          <a:lstStyle/>
          <a:p>
            <a:pPr algn="ctr"/>
            <a:r>
              <a:rPr sz="2600" b="1" i="0">
                <a:solidFill>
                  <a:srgbClr val="A78BFA"/>
                </a:solidFill>
                <a:latin typeface="Calibri"/>
              </a:rPr>
              <a:t>1,151</a:t>
            </a:r>
          </a:p>
        </p:txBody>
      </p:sp>
      <p:sp>
        <p:nvSpPr>
          <p:cNvPr id="26" name="TextBox 25"/>
          <p:cNvSpPr txBox="1"/>
          <p:nvPr/>
        </p:nvSpPr>
        <p:spPr>
          <a:xfrm>
            <a:off x="6126480" y="5321808"/>
            <a:ext cx="2377440" cy="237744"/>
          </a:xfrm>
          <a:prstGeom prst="rect">
            <a:avLst/>
          </a:prstGeom>
          <a:noFill/>
        </p:spPr>
        <p:txBody>
          <a:bodyPr wrap="square">
            <a:spAutoFit/>
          </a:bodyPr>
          <a:lstStyle/>
          <a:p>
            <a:pPr algn="ctr"/>
            <a:r>
              <a:rPr sz="1000" b="0" i="0">
                <a:solidFill>
                  <a:srgbClr val="7A8AA0"/>
                </a:solidFill>
                <a:latin typeface="Calibri"/>
              </a:rPr>
              <a:t>Students</a:t>
            </a:r>
          </a:p>
        </p:txBody>
      </p:sp>
      <p:sp>
        <p:nvSpPr>
          <p:cNvPr id="27" name="Rectangle 26"/>
          <p:cNvSpPr/>
          <p:nvPr/>
        </p:nvSpPr>
        <p:spPr>
          <a:xfrm>
            <a:off x="8641080" y="4526280"/>
            <a:ext cx="2377440" cy="1325880"/>
          </a:xfrm>
          <a:prstGeom prst="rect">
            <a:avLst/>
          </a:prstGeom>
          <a:solidFill>
            <a:srgbClr val="0E1623"/>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41080" y="4626864"/>
            <a:ext cx="2377440" cy="658368"/>
          </a:xfrm>
          <a:prstGeom prst="rect">
            <a:avLst/>
          </a:prstGeom>
          <a:noFill/>
        </p:spPr>
        <p:txBody>
          <a:bodyPr wrap="square">
            <a:spAutoFit/>
          </a:bodyPr>
          <a:lstStyle/>
          <a:p>
            <a:pPr algn="ctr"/>
            <a:r>
              <a:rPr sz="2600" b="1" i="0">
                <a:solidFill>
                  <a:srgbClr val="22C55E"/>
                </a:solidFill>
                <a:latin typeface="Calibri"/>
              </a:rPr>
              <a:t>Publicly</a:t>
            </a:r>
          </a:p>
        </p:txBody>
      </p:sp>
      <p:sp>
        <p:nvSpPr>
          <p:cNvPr id="29" name="TextBox 28"/>
          <p:cNvSpPr txBox="1"/>
          <p:nvPr/>
        </p:nvSpPr>
        <p:spPr>
          <a:xfrm>
            <a:off x="8641080" y="5321808"/>
            <a:ext cx="2377440" cy="237744"/>
          </a:xfrm>
          <a:prstGeom prst="rect">
            <a:avLst/>
          </a:prstGeom>
          <a:noFill/>
        </p:spPr>
        <p:txBody>
          <a:bodyPr wrap="square">
            <a:spAutoFit/>
          </a:bodyPr>
          <a:lstStyle/>
          <a:p>
            <a:pPr algn="ctr"/>
            <a:r>
              <a:rPr sz="1000" b="0" i="0">
                <a:solidFill>
                  <a:srgbClr val="7A8AA0"/>
                </a:solidFill>
                <a:latin typeface="Calibri"/>
              </a:rPr>
              <a:t>Deployed</a:t>
            </a:r>
          </a:p>
        </p:txBody>
      </p:sp>
      <p:sp>
        <p:nvSpPr>
          <p:cNvPr id="30" name="TextBox 29"/>
          <p:cNvSpPr txBox="1"/>
          <p:nvPr/>
        </p:nvSpPr>
        <p:spPr>
          <a:xfrm>
            <a:off x="1371600" y="6035040"/>
            <a:ext cx="9326880" cy="347472"/>
          </a:xfrm>
          <a:prstGeom prst="rect">
            <a:avLst/>
          </a:prstGeom>
          <a:noFill/>
        </p:spPr>
        <p:txBody>
          <a:bodyPr wrap="square">
            <a:spAutoFit/>
          </a:bodyPr>
          <a:lstStyle/>
          <a:p>
            <a:pPr algn="ctr"/>
            <a:r>
              <a:rPr sz="1100" b="1" i="1">
                <a:solidFill>
                  <a:srgbClr val="F59E0B"/>
                </a:solidFill>
                <a:latin typeface="Calibri"/>
              </a:rPr>
              <a:t>⚠️  MINDscan is a preliminary screening support tool. It is NOT a clinical diagnostic instrument.</a:t>
            </a:r>
          </a:p>
        </p:txBody>
      </p:sp>
      <p:sp>
        <p:nvSpPr>
          <p:cNvPr id="31" name="Rectangle 30"/>
          <p:cNvSpPr/>
          <p:nvPr/>
        </p:nvSpPr>
        <p:spPr>
          <a:xfrm>
            <a:off x="0" y="6601968"/>
            <a:ext cx="12188952" cy="256032"/>
          </a:xfrm>
          <a:prstGeom prst="rect">
            <a:avLst/>
          </a:prstGeom>
          <a:solidFill>
            <a:srgbClr val="050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4320" y="6620256"/>
            <a:ext cx="10058400" cy="219456"/>
          </a:xfrm>
          <a:prstGeom prst="rect">
            <a:avLst/>
          </a:prstGeom>
          <a:noFill/>
        </p:spPr>
        <p:txBody>
          <a:bodyPr wrap="square">
            <a:spAutoFit/>
          </a:bodyPr>
          <a:lstStyle/>
          <a:p>
            <a:pPr algn="l"/>
            <a:r>
              <a:rPr sz="800" b="0" i="0">
                <a:solidFill>
                  <a:srgbClr val="7A8AA0"/>
                </a:solidFill>
                <a:latin typeface="Calibri"/>
              </a:rPr>
              <a:t>MINDscan  ·  AI-Based Mental Health Screening  ·  Priyanshi Goel  ·  DS4270  ·  MUJ  ·  2026</a:t>
            </a:r>
          </a:p>
        </p:txBody>
      </p:sp>
      <p:sp>
        <p:nvSpPr>
          <p:cNvPr id="33" name="TextBox 32"/>
          <p:cNvSpPr txBox="1"/>
          <p:nvPr/>
        </p:nvSpPr>
        <p:spPr>
          <a:xfrm>
            <a:off x="11521440" y="6620256"/>
            <a:ext cx="502920" cy="219456"/>
          </a:xfrm>
          <a:prstGeom prst="rect">
            <a:avLst/>
          </a:prstGeom>
          <a:noFill/>
        </p:spPr>
        <p:txBody>
          <a:bodyPr wrap="square">
            <a:spAutoFit/>
          </a:bodyPr>
          <a:lstStyle/>
          <a:p>
            <a:pPr algn="r"/>
            <a:r>
              <a:rPr sz="800" b="0" i="0">
                <a:solidFill>
                  <a:srgbClr val="7A8AA0"/>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392</TotalTime>
  <Words>4072</Words>
  <Application>Microsoft Macintosh PowerPoint</Application>
  <PresentationFormat>Custom</PresentationFormat>
  <Paragraphs>432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Priyanshi Goel [DATA SCIENCE AND ENGINEERING - 2022]</cp:lastModifiedBy>
  <cp:revision>2</cp:revision>
  <dcterms:created xsi:type="dcterms:W3CDTF">2013-01-27T09:14:16Z</dcterms:created>
  <dcterms:modified xsi:type="dcterms:W3CDTF">2026-06-30T14:30:56Z</dcterms:modified>
  <cp:category/>
</cp:coreProperties>
</file>